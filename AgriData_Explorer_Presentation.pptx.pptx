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81074" y="4114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81074" y="4381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81074" y="4648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81074" y="4914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81074" y="5848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81074" y="61150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81074" y="63817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81074" y="66484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81074" y="73818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81074" y="7648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81074" y="7915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81074" y="8181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54075" y="936168"/>
            <a:ext cx="5859145" cy="7352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Gill Sans MT"/>
                <a:cs typeface="Gill Sans MT"/>
              </a:rPr>
              <a:t>AgriData</a:t>
            </a:r>
            <a:r>
              <a:rPr dirty="0" sz="1950" spc="140" b="1">
                <a:latin typeface="Gill Sans MT"/>
                <a:cs typeface="Gill Sans MT"/>
              </a:rPr>
              <a:t> </a:t>
            </a:r>
            <a:r>
              <a:rPr dirty="0" sz="1950" b="1">
                <a:latin typeface="Gill Sans MT"/>
                <a:cs typeface="Gill Sans MT"/>
              </a:rPr>
              <a:t>Explorer</a:t>
            </a:r>
            <a:r>
              <a:rPr dirty="0" sz="1950" spc="185" b="1">
                <a:latin typeface="Gill Sans MT"/>
                <a:cs typeface="Gill Sans MT"/>
              </a:rPr>
              <a:t> </a:t>
            </a:r>
            <a:r>
              <a:rPr dirty="0" sz="1800" spc="125" b="1">
                <a:latin typeface="Lucida Sans"/>
                <a:cs typeface="Lucida Sans"/>
              </a:rPr>
              <a:t>—</a:t>
            </a:r>
            <a:r>
              <a:rPr dirty="0" sz="1800" spc="35" b="1">
                <a:latin typeface="Lucida Sans"/>
                <a:cs typeface="Lucida Sans"/>
              </a:rPr>
              <a:t> </a:t>
            </a:r>
            <a:r>
              <a:rPr dirty="0" sz="1950" b="1">
                <a:latin typeface="Gill Sans MT"/>
                <a:cs typeface="Gill Sans MT"/>
              </a:rPr>
              <a:t>Presentation</a:t>
            </a:r>
            <a:r>
              <a:rPr dirty="0" sz="1950" spc="110" b="1">
                <a:latin typeface="Gill Sans MT"/>
                <a:cs typeface="Gill Sans MT"/>
              </a:rPr>
              <a:t> </a:t>
            </a:r>
            <a:r>
              <a:rPr dirty="0" sz="1950" spc="-10" b="1">
                <a:latin typeface="Gill Sans MT"/>
                <a:cs typeface="Gill Sans MT"/>
              </a:rPr>
              <a:t>Notes</a:t>
            </a:r>
            <a:endParaRPr sz="1950">
              <a:latin typeface="Gill Sans MT"/>
              <a:cs typeface="Gill Sans MT"/>
            </a:endParaRPr>
          </a:p>
          <a:p>
            <a:pPr marL="12700" marR="1776730">
              <a:lnSpc>
                <a:spcPct val="125000"/>
              </a:lnSpc>
              <a:spcBef>
                <a:spcPts val="869"/>
              </a:spcBef>
            </a:pPr>
            <a:r>
              <a:rPr dirty="0" sz="1050" i="1">
                <a:latin typeface="Lucida Sans"/>
                <a:cs typeface="Lucida Sans"/>
              </a:rPr>
              <a:t>Indian</a:t>
            </a:r>
            <a:r>
              <a:rPr dirty="0" sz="1050" spc="-25" i="1">
                <a:latin typeface="Lucida Sans"/>
                <a:cs typeface="Lucida Sans"/>
              </a:rPr>
              <a:t> </a:t>
            </a:r>
            <a:r>
              <a:rPr dirty="0" sz="1050" spc="-10" i="1">
                <a:latin typeface="Lucida Sans"/>
                <a:cs typeface="Lucida Sans"/>
              </a:rPr>
              <a:t>Agricultural</a:t>
            </a:r>
            <a:r>
              <a:rPr dirty="0" sz="1050" spc="-25" i="1">
                <a:latin typeface="Lucida Sans"/>
                <a:cs typeface="Lucida Sans"/>
              </a:rPr>
              <a:t> </a:t>
            </a:r>
            <a:r>
              <a:rPr dirty="0" sz="1050" i="1">
                <a:latin typeface="Lucida Sans"/>
                <a:cs typeface="Lucida Sans"/>
              </a:rPr>
              <a:t>Data Analysis</a:t>
            </a:r>
            <a:r>
              <a:rPr dirty="0" sz="1050" spc="-55" i="1">
                <a:latin typeface="Lucida Sans"/>
                <a:cs typeface="Lucida Sans"/>
              </a:rPr>
              <a:t> </a:t>
            </a:r>
            <a:r>
              <a:rPr dirty="0" sz="1050" spc="-20" i="1">
                <a:latin typeface="Lucida Sans"/>
                <a:cs typeface="Lucida Sans"/>
              </a:rPr>
              <a:t>using</a:t>
            </a:r>
            <a:r>
              <a:rPr dirty="0" sz="1050" spc="-80" i="1">
                <a:latin typeface="Lucida Sans"/>
                <a:cs typeface="Lucida Sans"/>
              </a:rPr>
              <a:t> </a:t>
            </a:r>
            <a:r>
              <a:rPr dirty="0" sz="1050" spc="-10" i="1">
                <a:latin typeface="Lucida Sans"/>
                <a:cs typeface="Lucida Sans"/>
              </a:rPr>
              <a:t>Python</a:t>
            </a:r>
            <a:r>
              <a:rPr dirty="0" sz="1000" spc="-10" i="1">
                <a:latin typeface="Arial"/>
                <a:cs typeface="Arial"/>
              </a:rPr>
              <a:t>,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50" i="1">
                <a:latin typeface="Lucida Sans"/>
                <a:cs typeface="Lucida Sans"/>
              </a:rPr>
              <a:t>SQL</a:t>
            </a:r>
            <a:r>
              <a:rPr dirty="0" sz="1050" spc="-15" i="1">
                <a:latin typeface="Lucida Sans"/>
                <a:cs typeface="Lucida Sans"/>
              </a:rPr>
              <a:t> </a:t>
            </a:r>
            <a:r>
              <a:rPr dirty="0" sz="1000" spc="125" i="1">
                <a:latin typeface="Arial"/>
                <a:cs typeface="Arial"/>
              </a:rPr>
              <a:t>&amp;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50" spc="-45" i="1">
                <a:latin typeface="Lucida Sans"/>
                <a:cs typeface="Lucida Sans"/>
              </a:rPr>
              <a:t>Power</a:t>
            </a:r>
            <a:r>
              <a:rPr dirty="0" sz="1050" spc="-25" i="1">
                <a:latin typeface="Lucida Sans"/>
                <a:cs typeface="Lucida Sans"/>
              </a:rPr>
              <a:t> </a:t>
            </a:r>
            <a:r>
              <a:rPr dirty="0" sz="1050" spc="85" i="1">
                <a:latin typeface="Lucida Sans"/>
                <a:cs typeface="Lucida Sans"/>
              </a:rPr>
              <a:t>BI</a:t>
            </a:r>
            <a:r>
              <a:rPr dirty="0" sz="1050" spc="85" i="1">
                <a:latin typeface="Lucida Sans"/>
                <a:cs typeface="Lucida Sans"/>
              </a:rPr>
              <a:t> </a:t>
            </a:r>
            <a:r>
              <a:rPr dirty="0" sz="1050" spc="-20" i="1">
                <a:latin typeface="Lucida Sans"/>
                <a:cs typeface="Lucida Sans"/>
              </a:rPr>
              <a:t>Dataset</a:t>
            </a:r>
            <a:r>
              <a:rPr dirty="0" sz="1000" spc="-20" i="1">
                <a:latin typeface="Arial"/>
                <a:cs typeface="Arial"/>
              </a:rPr>
              <a:t>: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50" i="1">
                <a:latin typeface="Lucida Sans"/>
                <a:cs typeface="Lucida Sans"/>
              </a:rPr>
              <a:t>ICRISAT</a:t>
            </a:r>
            <a:r>
              <a:rPr dirty="0" sz="1050" spc="-80" i="1">
                <a:latin typeface="Lucida Sans"/>
                <a:cs typeface="Lucida Sans"/>
              </a:rPr>
              <a:t> </a:t>
            </a:r>
            <a:r>
              <a:rPr dirty="0" sz="1050" spc="-25" i="1">
                <a:latin typeface="Lucida Sans"/>
                <a:cs typeface="Lucida Sans"/>
              </a:rPr>
              <a:t>District</a:t>
            </a:r>
            <a:r>
              <a:rPr dirty="0" sz="1000" spc="-25" i="1">
                <a:latin typeface="Arial"/>
                <a:cs typeface="Arial"/>
              </a:rPr>
              <a:t>-</a:t>
            </a:r>
            <a:r>
              <a:rPr dirty="0" sz="1050" spc="-30" i="1">
                <a:latin typeface="Lucida Sans"/>
                <a:cs typeface="Lucida Sans"/>
              </a:rPr>
              <a:t>Level</a:t>
            </a:r>
            <a:r>
              <a:rPr dirty="0" sz="1050" spc="-35" i="1">
                <a:latin typeface="Lucida Sans"/>
                <a:cs typeface="Lucida Sans"/>
              </a:rPr>
              <a:t> </a:t>
            </a:r>
            <a:r>
              <a:rPr dirty="0" sz="1050" i="1">
                <a:latin typeface="Lucida Sans"/>
                <a:cs typeface="Lucida Sans"/>
              </a:rPr>
              <a:t>Data</a:t>
            </a:r>
            <a:r>
              <a:rPr dirty="0" sz="1050" spc="-5" i="1">
                <a:latin typeface="Lucida Sans"/>
                <a:cs typeface="Lucida Sans"/>
              </a:rPr>
              <a:t> </a:t>
            </a:r>
            <a:r>
              <a:rPr dirty="0" sz="1000" i="1">
                <a:latin typeface="Arial"/>
                <a:cs typeface="Arial"/>
              </a:rPr>
              <a:t>|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50" spc="-35" i="1">
                <a:latin typeface="Lucida Sans"/>
                <a:cs typeface="Lucida Sans"/>
              </a:rPr>
              <a:t>Done</a:t>
            </a:r>
            <a:r>
              <a:rPr dirty="0" sz="1050" spc="-80" i="1">
                <a:latin typeface="Lucida Sans"/>
                <a:cs typeface="Lucida Sans"/>
              </a:rPr>
              <a:t> </a:t>
            </a:r>
            <a:r>
              <a:rPr dirty="0" sz="1050" spc="-30" i="1">
                <a:latin typeface="Lucida Sans"/>
                <a:cs typeface="Lucida Sans"/>
              </a:rPr>
              <a:t>by</a:t>
            </a:r>
            <a:r>
              <a:rPr dirty="0" sz="1000" spc="-30" i="1">
                <a:latin typeface="Arial"/>
                <a:cs typeface="Arial"/>
              </a:rPr>
              <a:t>: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50" spc="-10" i="1">
                <a:latin typeface="Lucida Sans"/>
                <a:cs typeface="Lucida Sans"/>
              </a:rPr>
              <a:t>Keerthana</a:t>
            </a:r>
            <a:r>
              <a:rPr dirty="0" sz="1050" spc="-5" i="1">
                <a:latin typeface="Lucida Sans"/>
                <a:cs typeface="Lucida Sans"/>
              </a:rPr>
              <a:t> </a:t>
            </a:r>
            <a:r>
              <a:rPr dirty="0" sz="1050" spc="-25" i="1">
                <a:latin typeface="Lucida Sans"/>
                <a:cs typeface="Lucida Sans"/>
              </a:rPr>
              <a:t>GC</a:t>
            </a:r>
            <a:endParaRPr sz="1050">
              <a:latin typeface="Lucida Sans"/>
              <a:cs typeface="Lucida Sans"/>
            </a:endParaRPr>
          </a:p>
          <a:p>
            <a:pPr marL="12700" marR="4418965">
              <a:lnSpc>
                <a:spcPct val="260900"/>
              </a:lnSpc>
              <a:spcBef>
                <a:spcPts val="844"/>
              </a:spcBef>
            </a:pPr>
            <a:r>
              <a:rPr dirty="0" sz="1150" spc="-65" b="1">
                <a:latin typeface="Arial"/>
                <a:cs typeface="Arial"/>
              </a:rPr>
              <a:t>1.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Project</a:t>
            </a:r>
            <a:r>
              <a:rPr dirty="0" sz="1150" spc="175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Overview Objective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5000"/>
              </a:lnSpc>
              <a:spcBef>
                <a:spcPts val="805"/>
              </a:spcBef>
            </a:pPr>
            <a:r>
              <a:rPr dirty="0" sz="1050">
                <a:latin typeface="Verdana"/>
                <a:cs typeface="Verdana"/>
              </a:rPr>
              <a:t>Build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85">
                <a:latin typeface="Verdana"/>
                <a:cs typeface="Verdana"/>
              </a:rPr>
              <a:t>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data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visualization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platform</a:t>
            </a:r>
            <a:r>
              <a:rPr dirty="0" sz="1050" spc="-15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integrating</a:t>
            </a:r>
            <a:r>
              <a:rPr dirty="0" sz="1050" spc="-1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crop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yield</a:t>
            </a:r>
            <a:r>
              <a:rPr dirty="0" sz="1050" spc="-10">
                <a:latin typeface="Arial"/>
                <a:cs typeface="Arial"/>
              </a:rPr>
              <a:t>,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area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data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across </a:t>
            </a:r>
            <a:r>
              <a:rPr dirty="0" sz="1050" spc="-35">
                <a:latin typeface="Verdana"/>
                <a:cs typeface="Verdana"/>
              </a:rPr>
              <a:t>Indian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states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districts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to</a:t>
            </a:r>
            <a:r>
              <a:rPr dirty="0" sz="1050" spc="-1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enable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data</a:t>
            </a:r>
            <a:r>
              <a:rPr dirty="0" sz="1050" spc="-30">
                <a:latin typeface="Arial"/>
                <a:cs typeface="Arial"/>
              </a:rPr>
              <a:t>-</a:t>
            </a:r>
            <a:r>
              <a:rPr dirty="0" sz="1050" spc="-18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driven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decisions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farmers</a:t>
            </a:r>
            <a:r>
              <a:rPr dirty="0" sz="1050" spc="-25">
                <a:latin typeface="Arial"/>
                <a:cs typeface="Arial"/>
              </a:rPr>
              <a:t>,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policymakers</a:t>
            </a:r>
            <a:r>
              <a:rPr dirty="0" sz="1050" spc="-20">
                <a:latin typeface="Arial"/>
                <a:cs typeface="Arial"/>
              </a:rPr>
              <a:t>,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 </a:t>
            </a:r>
            <a:r>
              <a:rPr dirty="0" sz="1050" spc="-10">
                <a:latin typeface="Verdana"/>
                <a:cs typeface="Verdana"/>
              </a:rPr>
              <a:t>researchers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Dataset</a:t>
            </a:r>
            <a:r>
              <a:rPr dirty="0" sz="1150" spc="175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160" b="1">
                <a:latin typeface="Arial"/>
                <a:cs typeface="Arial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ICRISAT</a:t>
            </a:r>
            <a:endParaRPr sz="1150">
              <a:latin typeface="Gill Sans MT"/>
              <a:cs typeface="Gill Sans MT"/>
            </a:endParaRPr>
          </a:p>
          <a:p>
            <a:pPr marL="278765" marR="1443355">
              <a:lnSpc>
                <a:spcPct val="166700"/>
              </a:lnSpc>
              <a:spcBef>
                <a:spcPts val="204"/>
              </a:spcBef>
            </a:pPr>
            <a:r>
              <a:rPr dirty="0" sz="1050" spc="-25">
                <a:latin typeface="Verdana"/>
                <a:cs typeface="Verdana"/>
              </a:rPr>
              <a:t>District</a:t>
            </a:r>
            <a:r>
              <a:rPr dirty="0" sz="1050" spc="-25">
                <a:latin typeface="Arial"/>
                <a:cs typeface="Arial"/>
              </a:rPr>
              <a:t>-</a:t>
            </a:r>
            <a:r>
              <a:rPr dirty="0" sz="1050">
                <a:latin typeface="Verdana"/>
                <a:cs typeface="Verdana"/>
              </a:rPr>
              <a:t>level</a:t>
            </a:r>
            <a:r>
              <a:rPr dirty="0" sz="1050" spc="-3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agricultural</a:t>
            </a:r>
            <a:r>
              <a:rPr dirty="0" sz="1050" spc="-25">
                <a:latin typeface="Verdana"/>
                <a:cs typeface="Verdana"/>
              </a:rPr>
              <a:t> data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covering</a:t>
            </a:r>
            <a:r>
              <a:rPr dirty="0" sz="1050">
                <a:latin typeface="Verdana"/>
                <a:cs typeface="Verdana"/>
              </a:rPr>
              <a:t> </a:t>
            </a:r>
            <a:r>
              <a:rPr dirty="0" sz="1050" spc="-45" b="1">
                <a:latin typeface="Arial"/>
                <a:cs typeface="Arial"/>
              </a:rPr>
              <a:t>313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districts</a:t>
            </a:r>
            <a:r>
              <a:rPr dirty="0" sz="1050" spc="20" b="1">
                <a:latin typeface="Gill Sans MT"/>
                <a:cs typeface="Gill Sans MT"/>
              </a:rPr>
              <a:t> </a:t>
            </a:r>
            <a:r>
              <a:rPr dirty="0" sz="1050" spc="-30">
                <a:latin typeface="Verdana"/>
                <a:cs typeface="Verdana"/>
              </a:rPr>
              <a:t>across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India </a:t>
            </a:r>
            <a:r>
              <a:rPr dirty="0" sz="1050" spc="-50">
                <a:latin typeface="Verdana"/>
                <a:cs typeface="Verdana"/>
              </a:rPr>
              <a:t>Spans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60" b="1">
                <a:latin typeface="Arial"/>
                <a:cs typeface="Arial"/>
              </a:rPr>
              <a:t>51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years</a:t>
            </a:r>
            <a:r>
              <a:rPr dirty="0" sz="1050" spc="30" b="1">
                <a:latin typeface="Gill Sans MT"/>
                <a:cs typeface="Gill Sans MT"/>
              </a:rPr>
              <a:t> </a:t>
            </a:r>
            <a:r>
              <a:rPr dirty="0" sz="1050" spc="-10">
                <a:latin typeface="Arial"/>
                <a:cs typeface="Arial"/>
              </a:rPr>
              <a:t>(1966–2017)</a:t>
            </a:r>
            <a:endParaRPr sz="1050">
              <a:latin typeface="Arial"/>
              <a:cs typeface="Arial"/>
            </a:endParaRPr>
          </a:p>
          <a:p>
            <a:pPr marL="278765">
              <a:lnSpc>
                <a:spcPct val="100000"/>
              </a:lnSpc>
              <a:spcBef>
                <a:spcPts val="840"/>
              </a:spcBef>
            </a:pPr>
            <a:r>
              <a:rPr dirty="0" sz="1050" spc="-20">
                <a:latin typeface="Verdana"/>
                <a:cs typeface="Verdana"/>
              </a:rPr>
              <a:t>Contains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5" b="1">
                <a:latin typeface="Arial"/>
                <a:cs typeface="Arial"/>
              </a:rPr>
              <a:t>16,146</a:t>
            </a:r>
            <a:r>
              <a:rPr dirty="0" sz="1050" spc="40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rows</a:t>
            </a:r>
            <a:r>
              <a:rPr dirty="0" sz="1050" spc="10" b="1">
                <a:latin typeface="Gill Sans MT"/>
                <a:cs typeface="Gill Sans MT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90" b="1">
                <a:latin typeface="Arial"/>
                <a:cs typeface="Arial"/>
              </a:rPr>
              <a:t>80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spc="-10" b="1">
                <a:latin typeface="Gill Sans MT"/>
                <a:cs typeface="Gill Sans MT"/>
              </a:rPr>
              <a:t>columns</a:t>
            </a:r>
            <a:endParaRPr sz="1050">
              <a:latin typeface="Gill Sans MT"/>
              <a:cs typeface="Gill Sans MT"/>
            </a:endParaRPr>
          </a:p>
          <a:p>
            <a:pPr marL="278765" marR="277495">
              <a:lnSpc>
                <a:spcPct val="125000"/>
              </a:lnSpc>
              <a:spcBef>
                <a:spcPts val="525"/>
              </a:spcBef>
            </a:pPr>
            <a:r>
              <a:rPr dirty="0" sz="1050" spc="-20">
                <a:latin typeface="Verdana"/>
                <a:cs typeface="Verdana"/>
              </a:rPr>
              <a:t>Covers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b="1">
                <a:latin typeface="Arial"/>
                <a:cs typeface="Arial"/>
              </a:rPr>
              <a:t>20+</a:t>
            </a:r>
            <a:r>
              <a:rPr dirty="0" sz="1050" spc="70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crop</a:t>
            </a:r>
            <a:r>
              <a:rPr dirty="0" sz="1050" spc="-70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types</a:t>
            </a:r>
            <a:r>
              <a:rPr dirty="0" sz="1050" spc="25" b="1">
                <a:latin typeface="Gill Sans MT"/>
                <a:cs typeface="Gill Sans MT"/>
              </a:rPr>
              <a:t> </a:t>
            </a:r>
            <a:r>
              <a:rPr dirty="0" sz="1050" spc="-20">
                <a:latin typeface="Verdana"/>
                <a:cs typeface="Verdana"/>
              </a:rPr>
              <a:t>including</a:t>
            </a:r>
            <a:r>
              <a:rPr dirty="0" sz="10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Rice</a:t>
            </a:r>
            <a:r>
              <a:rPr dirty="0" sz="1050" spc="-25">
                <a:latin typeface="Arial"/>
                <a:cs typeface="Arial"/>
              </a:rPr>
              <a:t>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Cotton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Groundnut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Oilseeds</a:t>
            </a:r>
            <a:r>
              <a:rPr dirty="0" sz="1050" spc="-10">
                <a:latin typeface="Arial"/>
                <a:cs typeface="Arial"/>
              </a:rPr>
              <a:t>, </a:t>
            </a:r>
            <a:r>
              <a:rPr dirty="0" sz="1050" spc="-30">
                <a:latin typeface="Verdana"/>
                <a:cs typeface="Verdana"/>
              </a:rPr>
              <a:t>Sugarcane</a:t>
            </a:r>
            <a:r>
              <a:rPr dirty="0" sz="1050" spc="-30">
                <a:latin typeface="Arial"/>
                <a:cs typeface="Arial"/>
              </a:rPr>
              <a:t>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Sun</a:t>
            </a:r>
            <a:r>
              <a:rPr dirty="0" sz="1050">
                <a:latin typeface="Arial"/>
                <a:cs typeface="Arial"/>
              </a:rPr>
              <a:t>fl</a:t>
            </a:r>
            <a:r>
              <a:rPr dirty="0" sz="1050">
                <a:latin typeface="Verdana"/>
                <a:cs typeface="Verdana"/>
              </a:rPr>
              <a:t>ower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more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50" b="1">
                <a:latin typeface="Gill Sans MT"/>
                <a:cs typeface="Gill Sans MT"/>
              </a:rPr>
              <a:t>Tech</a:t>
            </a:r>
            <a:r>
              <a:rPr dirty="0" sz="1150" spc="20" b="1">
                <a:latin typeface="Gill Sans MT"/>
                <a:cs typeface="Gill Sans MT"/>
              </a:rPr>
              <a:t> </a:t>
            </a:r>
            <a:r>
              <a:rPr dirty="0" sz="1150" spc="40" b="1">
                <a:latin typeface="Gill Sans MT"/>
                <a:cs typeface="Gill Sans MT"/>
              </a:rPr>
              <a:t>Stack</a:t>
            </a:r>
            <a:endParaRPr sz="1150">
              <a:latin typeface="Gill Sans MT"/>
              <a:cs typeface="Gill Sans MT"/>
            </a:endParaRPr>
          </a:p>
          <a:p>
            <a:pPr algn="just" marL="278765" marR="2371725">
              <a:lnSpc>
                <a:spcPct val="166700"/>
              </a:lnSpc>
              <a:spcBef>
                <a:spcPts val="280"/>
              </a:spcBef>
            </a:pPr>
            <a:r>
              <a:rPr dirty="0" sz="1050" b="1">
                <a:latin typeface="Gill Sans MT"/>
                <a:cs typeface="Gill Sans MT"/>
              </a:rPr>
              <a:t>Python</a:t>
            </a:r>
            <a:r>
              <a:rPr dirty="0" sz="1050" spc="-75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3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Pandas</a:t>
            </a:r>
            <a:r>
              <a:rPr dirty="0" sz="1050" spc="-10">
                <a:latin typeface="Arial"/>
                <a:cs typeface="Arial"/>
              </a:rPr>
              <a:t>,</a:t>
            </a:r>
            <a:r>
              <a:rPr dirty="0" sz="1050" spc="4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Plotly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(</a:t>
            </a:r>
            <a:r>
              <a:rPr dirty="0" sz="1050">
                <a:latin typeface="Verdana"/>
                <a:cs typeface="Verdana"/>
              </a:rPr>
              <a:t>EDA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80">
                <a:latin typeface="Arial"/>
                <a:cs typeface="Arial"/>
              </a:rPr>
              <a:t>&amp;</a:t>
            </a:r>
            <a:r>
              <a:rPr dirty="0" sz="1050" spc="65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data</a:t>
            </a:r>
            <a:r>
              <a:rPr dirty="0" sz="1050" spc="-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processing</a:t>
            </a:r>
            <a:r>
              <a:rPr dirty="0" sz="1050" spc="-10">
                <a:latin typeface="Arial"/>
                <a:cs typeface="Arial"/>
              </a:rPr>
              <a:t>) </a:t>
            </a:r>
            <a:r>
              <a:rPr dirty="0" sz="1050" spc="-10" b="1">
                <a:latin typeface="Gill Sans MT"/>
                <a:cs typeface="Gill Sans MT"/>
              </a:rPr>
              <a:t>MySQL</a:t>
            </a:r>
            <a:r>
              <a:rPr dirty="0" sz="1050" spc="-5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 </a:t>
            </a:r>
            <a:r>
              <a:rPr dirty="0" sz="1050" spc="-35">
                <a:latin typeface="Verdana"/>
                <a:cs typeface="Verdana"/>
              </a:rPr>
              <a:t>Database </a:t>
            </a:r>
            <a:r>
              <a:rPr dirty="0" sz="1050" spc="-25">
                <a:latin typeface="Verdana"/>
                <a:cs typeface="Verdana"/>
              </a:rPr>
              <a:t>creation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and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business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queries </a:t>
            </a:r>
            <a:r>
              <a:rPr dirty="0" sz="1050" b="1">
                <a:latin typeface="Gill Sans MT"/>
                <a:cs typeface="Gill Sans MT"/>
              </a:rPr>
              <a:t>Power</a:t>
            </a:r>
            <a:r>
              <a:rPr dirty="0" sz="1050" spc="15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BI</a:t>
            </a:r>
            <a:r>
              <a:rPr dirty="0" sz="1050" spc="4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30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Interactive</a:t>
            </a:r>
            <a:r>
              <a:rPr dirty="0" sz="1050" spc="-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dashboards</a:t>
            </a:r>
            <a:endParaRPr sz="1050">
              <a:latin typeface="Verdana"/>
              <a:cs typeface="Verdana"/>
            </a:endParaRPr>
          </a:p>
          <a:p>
            <a:pPr algn="just" marL="278765">
              <a:lnSpc>
                <a:spcPct val="100000"/>
              </a:lnSpc>
              <a:spcBef>
                <a:spcPts val="840"/>
              </a:spcBef>
            </a:pPr>
            <a:r>
              <a:rPr dirty="0" sz="1050" spc="-10" b="1">
                <a:latin typeface="Gill Sans MT"/>
                <a:cs typeface="Gill Sans MT"/>
              </a:rPr>
              <a:t>Jupyter</a:t>
            </a:r>
            <a:r>
              <a:rPr dirty="0" sz="1050" spc="-15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Notebook</a:t>
            </a:r>
            <a:r>
              <a:rPr dirty="0" sz="1050" spc="-8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 </a:t>
            </a:r>
            <a:r>
              <a:rPr dirty="0" sz="1050" spc="-10">
                <a:latin typeface="Verdana"/>
                <a:cs typeface="Verdana"/>
              </a:rPr>
              <a:t>Development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environment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50" spc="-10" b="1">
                <a:latin typeface="Gill Sans MT"/>
                <a:cs typeface="Gill Sans MT"/>
              </a:rPr>
              <a:t>Deliverables</a:t>
            </a:r>
            <a:endParaRPr sz="1150">
              <a:latin typeface="Gill Sans MT"/>
              <a:cs typeface="Gill Sans MT"/>
            </a:endParaRPr>
          </a:p>
          <a:p>
            <a:pPr marL="278765" marR="3509010">
              <a:lnSpc>
                <a:spcPct val="166700"/>
              </a:lnSpc>
              <a:spcBef>
                <a:spcPts val="280"/>
              </a:spcBef>
            </a:pPr>
            <a:r>
              <a:rPr dirty="0" sz="1050" spc="-10">
                <a:latin typeface="Verdana"/>
                <a:cs typeface="Verdana"/>
              </a:rPr>
              <a:t>Cleaned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structured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dataset </a:t>
            </a:r>
            <a:r>
              <a:rPr dirty="0" sz="1050">
                <a:latin typeface="Verdana"/>
                <a:cs typeface="Verdana"/>
              </a:rPr>
              <a:t>EDA</a:t>
            </a:r>
            <a:r>
              <a:rPr dirty="0" sz="1050" spc="-114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75">
                <a:latin typeface="Arial"/>
                <a:cs typeface="Arial"/>
              </a:rPr>
              <a:t>15+</a:t>
            </a:r>
            <a:r>
              <a:rPr dirty="0" sz="1050" spc="65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interactive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charts</a:t>
            </a:r>
            <a:endParaRPr sz="1050">
              <a:latin typeface="Verdana"/>
              <a:cs typeface="Verdana"/>
            </a:endParaRPr>
          </a:p>
          <a:p>
            <a:pPr marL="278765" marR="3070225">
              <a:lnSpc>
                <a:spcPct val="166700"/>
              </a:lnSpc>
            </a:pPr>
            <a:r>
              <a:rPr dirty="0" sz="1050" spc="-30">
                <a:latin typeface="Verdana"/>
                <a:cs typeface="Verdana"/>
              </a:rPr>
              <a:t>SQL</a:t>
            </a:r>
            <a:r>
              <a:rPr dirty="0" sz="1050" spc="-18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database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30">
                <a:latin typeface="Arial"/>
                <a:cs typeface="Arial"/>
              </a:rPr>
              <a:t>10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40">
                <a:latin typeface="Verdana"/>
                <a:cs typeface="Verdana"/>
              </a:rPr>
              <a:t>business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queries </a:t>
            </a:r>
            <a:r>
              <a:rPr dirty="0" sz="1050">
                <a:latin typeface="Arial"/>
                <a:cs typeface="Arial"/>
              </a:rPr>
              <a:t>4-</a:t>
            </a:r>
            <a:r>
              <a:rPr dirty="0" sz="1050" spc="-30">
                <a:latin typeface="Verdana"/>
                <a:cs typeface="Verdana"/>
              </a:rPr>
              <a:t>page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interactive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Power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BI</a:t>
            </a:r>
            <a:r>
              <a:rPr dirty="0" sz="1050" spc="-14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dashboard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285874" y="4810124"/>
          <a:ext cx="5210175" cy="1957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/>
                <a:gridCol w="4095750"/>
              </a:tblGrid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 marR="190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Lucida Sans"/>
                          <a:cs typeface="Lucida Sans"/>
                        </a:rPr>
                        <a:t>Metric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Lucida Sans"/>
                          <a:cs typeface="Lucida Sans"/>
                        </a:rPr>
                        <a:t>Value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75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30">
                          <a:latin typeface="Arial"/>
                          <a:cs typeface="Arial"/>
                        </a:rPr>
                        <a:t>Rows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16,146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 spc="60">
                          <a:latin typeface="Arial"/>
                          <a:cs typeface="Arial"/>
                        </a:rPr>
                        <a:t>Districts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35">
                          <a:latin typeface="Arial"/>
                          <a:cs typeface="Arial"/>
                        </a:rPr>
                        <a:t>Covered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Arial"/>
                          <a:cs typeface="Arial"/>
                        </a:rPr>
                        <a:t>313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75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60">
                          <a:latin typeface="Arial"/>
                          <a:cs typeface="Arial"/>
                        </a:rPr>
                        <a:t>Columns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 spc="90">
                          <a:latin typeface="Arial"/>
                          <a:cs typeface="Arial"/>
                        </a:rPr>
                        <a:t>80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 spc="6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7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Period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1966</a:t>
                      </a:r>
                      <a:r>
                        <a:rPr dirty="0" sz="75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35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2017</a:t>
                      </a:r>
                      <a:r>
                        <a:rPr dirty="0" sz="75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(51</a:t>
                      </a:r>
                      <a:r>
                        <a:rPr dirty="0" sz="75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Years)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 spc="40">
                          <a:latin typeface="Arial"/>
                          <a:cs typeface="Arial"/>
                        </a:rPr>
                        <a:t>Source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ICRISAT</a:t>
                      </a:r>
                      <a:r>
                        <a:rPr dirty="0" sz="75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65">
                          <a:latin typeface="Arial"/>
                          <a:cs typeface="Arial"/>
                        </a:rPr>
                        <a:t>District</a:t>
                      </a:r>
                      <a:r>
                        <a:rPr dirty="0" sz="75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75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35">
                          <a:latin typeface="Arial"/>
                          <a:cs typeface="Arial"/>
                        </a:rPr>
                        <a:t>Data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750" spc="55">
                          <a:latin typeface="Arial"/>
                          <a:cs typeface="Arial"/>
                        </a:rPr>
                        <a:t>Crops</a:t>
                      </a:r>
                      <a:r>
                        <a:rPr dirty="0" sz="7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55">
                          <a:latin typeface="Arial"/>
                          <a:cs typeface="Arial"/>
                        </a:rPr>
                        <a:t>Included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Rice,</a:t>
                      </a:r>
                      <a:r>
                        <a:rPr dirty="0" sz="7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55">
                          <a:latin typeface="Arial"/>
                          <a:cs typeface="Arial"/>
                        </a:rPr>
                        <a:t>Wheat,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Maize,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55">
                          <a:latin typeface="Arial"/>
                          <a:cs typeface="Arial"/>
                        </a:rPr>
                        <a:t>Cotton,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65">
                          <a:latin typeface="Arial"/>
                          <a:cs typeface="Arial"/>
                        </a:rPr>
                        <a:t>Groundnut,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45">
                          <a:latin typeface="Arial"/>
                          <a:cs typeface="Arial"/>
                        </a:rPr>
                        <a:t>Oilseeds,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50">
                          <a:latin typeface="Arial"/>
                          <a:cs typeface="Arial"/>
                        </a:rPr>
                        <a:t>Sugarcane,</a:t>
                      </a:r>
                      <a:r>
                        <a:rPr dirty="0" sz="7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75">
                          <a:latin typeface="Arial"/>
                          <a:cs typeface="Arial"/>
                        </a:rPr>
                        <a:t>Sunﬂower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75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40">
                          <a:latin typeface="Arial"/>
                          <a:cs typeface="Arial"/>
                        </a:rPr>
                        <a:t>more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854075" y="369931"/>
            <a:ext cx="6062345" cy="432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135"/>
              </a:spcBef>
              <a:buFont typeface="Arial"/>
              <a:buAutoNum type="arabicPeriod" startAt="2"/>
              <a:tabLst>
                <a:tab pos="174625" algn="l"/>
              </a:tabLst>
            </a:pPr>
            <a:r>
              <a:rPr dirty="0" sz="1150" b="1">
                <a:latin typeface="Gill Sans MT"/>
                <a:cs typeface="Gill Sans MT"/>
              </a:rPr>
              <a:t>Data</a:t>
            </a:r>
            <a:r>
              <a:rPr dirty="0" sz="1150" spc="22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Cleaning</a:t>
            </a:r>
            <a:r>
              <a:rPr dirty="0" sz="1150" spc="280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Pipeline</a:t>
            </a:r>
            <a:endParaRPr sz="11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buFont typeface="Arial"/>
              <a:buAutoNum type="arabicPeriod" startAt="2"/>
            </a:pP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b="1">
                <a:latin typeface="Gill Sans MT"/>
                <a:cs typeface="Gill Sans MT"/>
              </a:rPr>
              <a:t>Step</a:t>
            </a:r>
            <a:r>
              <a:rPr dirty="0" sz="1150" spc="30" b="1">
                <a:latin typeface="Gill Sans MT"/>
                <a:cs typeface="Gill Sans MT"/>
              </a:rPr>
              <a:t> </a:t>
            </a:r>
            <a:r>
              <a:rPr dirty="0" sz="1150" spc="-114" b="1">
                <a:latin typeface="Arial"/>
                <a:cs typeface="Arial"/>
              </a:rPr>
              <a:t>1</a:t>
            </a:r>
            <a:r>
              <a:rPr dirty="0" sz="1150" b="1">
                <a:latin typeface="Arial"/>
                <a:cs typeface="Arial"/>
              </a:rPr>
              <a:t> —</a:t>
            </a:r>
            <a:r>
              <a:rPr dirty="0" sz="1150" spc="50" b="1">
                <a:latin typeface="Arial"/>
                <a:cs typeface="Arial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Handled</a:t>
            </a:r>
            <a:r>
              <a:rPr dirty="0" sz="1150" spc="35" b="1">
                <a:latin typeface="Gill Sans MT"/>
                <a:cs typeface="Gill Sans MT"/>
              </a:rPr>
              <a:t> </a:t>
            </a:r>
            <a:r>
              <a:rPr dirty="0" sz="1150" spc="65" b="1">
                <a:latin typeface="Gill Sans MT"/>
                <a:cs typeface="Gill Sans MT"/>
              </a:rPr>
              <a:t>Missing</a:t>
            </a:r>
            <a:r>
              <a:rPr dirty="0" sz="1150" spc="80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Values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050" spc="-10">
                <a:latin typeface="Verdana"/>
                <a:cs typeface="Verdana"/>
              </a:rPr>
              <a:t>Replaced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NaN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80">
                <a:latin typeface="Arial"/>
                <a:cs typeface="Arial"/>
              </a:rPr>
              <a:t>0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crop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area</a:t>
            </a:r>
            <a:r>
              <a:rPr dirty="0" sz="1050" spc="-25">
                <a:latin typeface="Arial"/>
                <a:cs typeface="Arial"/>
              </a:rPr>
              <a:t>,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>
                <a:latin typeface="Arial"/>
                <a:cs typeface="Arial"/>
              </a:rPr>
              <a:t>;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dropped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rows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all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>
                <a:latin typeface="Verdana"/>
                <a:cs typeface="Verdana"/>
              </a:rPr>
              <a:t>null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records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Step</a:t>
            </a:r>
            <a:r>
              <a:rPr dirty="0" sz="1150" spc="75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2</a:t>
            </a:r>
            <a:r>
              <a:rPr dirty="0" sz="1150" spc="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100" b="1">
                <a:latin typeface="Arial"/>
                <a:cs typeface="Arial"/>
              </a:rPr>
              <a:t> </a:t>
            </a:r>
            <a:r>
              <a:rPr dirty="0" sz="1150" spc="55" b="1">
                <a:latin typeface="Gill Sans MT"/>
                <a:cs typeface="Gill Sans MT"/>
              </a:rPr>
              <a:t>Removed</a:t>
            </a:r>
            <a:r>
              <a:rPr dirty="0" sz="1150" spc="80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Negative</a:t>
            </a:r>
            <a:r>
              <a:rPr dirty="0" sz="1150" spc="114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Values</a:t>
            </a:r>
            <a:endParaRPr sz="1150">
              <a:latin typeface="Gill Sans MT"/>
              <a:cs typeface="Gill Sans MT"/>
            </a:endParaRPr>
          </a:p>
          <a:p>
            <a:pPr marL="12700" marR="294640">
              <a:lnSpc>
                <a:spcPct val="125000"/>
              </a:lnSpc>
              <a:spcBef>
                <a:spcPts val="805"/>
              </a:spcBef>
            </a:pPr>
            <a:r>
              <a:rPr dirty="0" sz="1050" spc="-10">
                <a:latin typeface="Verdana"/>
                <a:cs typeface="Verdana"/>
              </a:rPr>
              <a:t>Replaced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negative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crop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entries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NaN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then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80">
                <a:latin typeface="Arial"/>
                <a:cs typeface="Arial"/>
              </a:rPr>
              <a:t>0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physically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impossible </a:t>
            </a:r>
            <a:r>
              <a:rPr dirty="0" sz="1050" spc="-20">
                <a:latin typeface="Verdana"/>
                <a:cs typeface="Verdana"/>
              </a:rPr>
              <a:t>values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were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excluded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from</a:t>
            </a:r>
            <a:r>
              <a:rPr dirty="0" sz="1050" spc="-1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analysis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Step</a:t>
            </a:r>
            <a:r>
              <a:rPr dirty="0" sz="1150" spc="175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3</a:t>
            </a:r>
            <a:r>
              <a:rPr dirty="0" sz="1150" spc="1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200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Standardized</a:t>
            </a:r>
            <a:r>
              <a:rPr dirty="0" sz="1150" spc="17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Column</a:t>
            </a:r>
            <a:r>
              <a:rPr dirty="0" sz="1150" spc="145" b="1">
                <a:latin typeface="Gill Sans MT"/>
                <a:cs typeface="Gill Sans MT"/>
              </a:rPr>
              <a:t> </a:t>
            </a:r>
            <a:r>
              <a:rPr dirty="0" sz="1150" spc="-20" b="1">
                <a:latin typeface="Gill Sans MT"/>
                <a:cs typeface="Gill Sans MT"/>
              </a:rPr>
              <a:t>Names</a:t>
            </a:r>
            <a:endParaRPr sz="1150">
              <a:latin typeface="Gill Sans MT"/>
              <a:cs typeface="Gill Sans MT"/>
            </a:endParaRPr>
          </a:p>
          <a:p>
            <a:pPr marL="12700" marR="483234">
              <a:lnSpc>
                <a:spcPct val="125000"/>
              </a:lnSpc>
              <a:spcBef>
                <a:spcPts val="805"/>
              </a:spcBef>
            </a:pPr>
            <a:r>
              <a:rPr dirty="0" sz="1050" spc="-30">
                <a:latin typeface="Verdana"/>
                <a:cs typeface="Verdana"/>
              </a:rPr>
              <a:t>Stripped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whitespace</a:t>
            </a:r>
            <a:r>
              <a:rPr dirty="0" sz="1050" spc="-20">
                <a:latin typeface="Arial"/>
                <a:cs typeface="Arial"/>
              </a:rPr>
              <a:t>,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converted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to</a:t>
            </a:r>
            <a:r>
              <a:rPr dirty="0" sz="1050" spc="-10">
                <a:latin typeface="Verdana"/>
                <a:cs typeface="Verdana"/>
              </a:rPr>
              <a:t> lowercase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underscores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consistent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SQL</a:t>
            </a:r>
            <a:r>
              <a:rPr dirty="0" sz="1050" spc="-1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 </a:t>
            </a:r>
            <a:r>
              <a:rPr dirty="0" sz="1050" spc="-20">
                <a:latin typeface="Verdana"/>
                <a:cs typeface="Verdana"/>
              </a:rPr>
              <a:t>Pandas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access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Step</a:t>
            </a:r>
            <a:r>
              <a:rPr dirty="0" sz="1150" spc="40" b="1">
                <a:latin typeface="Gill Sans MT"/>
                <a:cs typeface="Gill Sans MT"/>
              </a:rPr>
              <a:t> </a:t>
            </a:r>
            <a:r>
              <a:rPr dirty="0" sz="1150" spc="60" b="1">
                <a:latin typeface="Arial"/>
                <a:cs typeface="Arial"/>
              </a:rPr>
              <a:t>4</a:t>
            </a:r>
            <a:r>
              <a:rPr dirty="0" sz="1150" spc="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60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Unit</a:t>
            </a:r>
            <a:r>
              <a:rPr dirty="0" sz="1150" spc="75" b="1">
                <a:latin typeface="Gill Sans MT"/>
                <a:cs typeface="Gill Sans MT"/>
              </a:rPr>
              <a:t> </a:t>
            </a:r>
            <a:r>
              <a:rPr dirty="0" sz="1150" spc="60" b="1">
                <a:latin typeface="Gill Sans MT"/>
                <a:cs typeface="Gill Sans MT"/>
              </a:rPr>
              <a:t>Consistency</a:t>
            </a:r>
            <a:r>
              <a:rPr dirty="0" sz="1150" spc="25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Veri</a:t>
            </a:r>
            <a:r>
              <a:rPr dirty="0" sz="1150" spc="-10" b="1">
                <a:latin typeface="Arial"/>
                <a:cs typeface="Arial"/>
              </a:rPr>
              <a:t>fi</a:t>
            </a:r>
            <a:r>
              <a:rPr dirty="0" sz="1150" spc="-10" b="1">
                <a:latin typeface="Gill Sans MT"/>
                <a:cs typeface="Gill Sans MT"/>
              </a:rPr>
              <a:t>ed</a:t>
            </a:r>
            <a:endParaRPr sz="1150">
              <a:latin typeface="Gill Sans MT"/>
              <a:cs typeface="Gill Sans MT"/>
            </a:endParaRPr>
          </a:p>
          <a:p>
            <a:pPr marL="12700" marR="175260">
              <a:lnSpc>
                <a:spcPct val="125000"/>
              </a:lnSpc>
              <a:spcBef>
                <a:spcPts val="730"/>
              </a:spcBef>
            </a:pPr>
            <a:r>
              <a:rPr dirty="0" sz="1050" spc="70">
                <a:latin typeface="Verdana"/>
                <a:cs typeface="Verdana"/>
              </a:rPr>
              <a:t>All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area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values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1000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ha</a:t>
            </a:r>
            <a:r>
              <a:rPr dirty="0" sz="1050" spc="-20">
                <a:latin typeface="Arial"/>
                <a:cs typeface="Arial"/>
              </a:rPr>
              <a:t>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1000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tons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yield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kg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>
                <a:latin typeface="Verdana"/>
                <a:cs typeface="Verdana"/>
              </a:rPr>
              <a:t>ha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con</a:t>
            </a:r>
            <a:r>
              <a:rPr dirty="0" sz="1050" spc="-10">
                <a:latin typeface="Arial"/>
                <a:cs typeface="Arial"/>
              </a:rPr>
              <a:t>fi</a:t>
            </a:r>
            <a:r>
              <a:rPr dirty="0" sz="1050" spc="-10">
                <a:latin typeface="Verdana"/>
                <a:cs typeface="Verdana"/>
              </a:rPr>
              <a:t>rmed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across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all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Arial"/>
                <a:cs typeface="Arial"/>
              </a:rPr>
              <a:t>80 </a:t>
            </a:r>
            <a:r>
              <a:rPr dirty="0" sz="1050" spc="-10">
                <a:latin typeface="Verdana"/>
                <a:cs typeface="Verdana"/>
              </a:rPr>
              <a:t>columns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74625" indent="-161925">
              <a:lnSpc>
                <a:spcPct val="100000"/>
              </a:lnSpc>
              <a:spcBef>
                <a:spcPts val="765"/>
              </a:spcBef>
              <a:buFont typeface="Arial"/>
              <a:buAutoNum type="arabicPeriod" startAt="3"/>
              <a:tabLst>
                <a:tab pos="174625" algn="l"/>
              </a:tabLst>
            </a:pPr>
            <a:r>
              <a:rPr dirty="0" sz="1150" b="1">
                <a:latin typeface="Gill Sans MT"/>
                <a:cs typeface="Gill Sans MT"/>
              </a:rPr>
              <a:t>ICRISAT</a:t>
            </a:r>
            <a:r>
              <a:rPr dirty="0" sz="1150" spc="12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Dataset</a:t>
            </a:r>
            <a:r>
              <a:rPr dirty="0" sz="1150" spc="290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Pro</a:t>
            </a:r>
            <a:r>
              <a:rPr dirty="0" sz="1150" spc="-10" b="1">
                <a:latin typeface="Arial"/>
                <a:cs typeface="Arial"/>
              </a:rPr>
              <a:t>fi</a:t>
            </a:r>
            <a:r>
              <a:rPr dirty="0" sz="1150" spc="-10" b="1">
                <a:latin typeface="Gill Sans MT"/>
                <a:cs typeface="Gill Sans MT"/>
              </a:rPr>
              <a:t>le</a:t>
            </a:r>
            <a:endParaRPr sz="1150">
              <a:latin typeface="Gill Sans MT"/>
              <a:cs typeface="Gill Sans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81074" y="7991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81074" y="8458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81074" y="8924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8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54075" y="7123155"/>
            <a:ext cx="5900420" cy="2108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50" b="1">
                <a:latin typeface="Arial"/>
                <a:cs typeface="Arial"/>
              </a:rPr>
              <a:t>4.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Exploratory</a:t>
            </a:r>
            <a:r>
              <a:rPr dirty="0" sz="1150" spc="20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Data</a:t>
            </a:r>
            <a:r>
              <a:rPr dirty="0" sz="1150" spc="50" b="1">
                <a:latin typeface="Gill Sans MT"/>
                <a:cs typeface="Gill Sans MT"/>
              </a:rPr>
              <a:t> </a:t>
            </a:r>
            <a:r>
              <a:rPr dirty="0" sz="1150" spc="60" b="1">
                <a:latin typeface="Gill Sans MT"/>
                <a:cs typeface="Gill Sans MT"/>
              </a:rPr>
              <a:t>Analysis </a:t>
            </a:r>
            <a:r>
              <a:rPr dirty="0" sz="1150" spc="-65" b="1">
                <a:latin typeface="Arial"/>
                <a:cs typeface="Arial"/>
              </a:rPr>
              <a:t>(15+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Visualizations</a:t>
            </a:r>
            <a:r>
              <a:rPr dirty="0" sz="1150" spc="-10" b="1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150" b="1">
                <a:latin typeface="Gill Sans MT"/>
                <a:cs typeface="Gill Sans MT"/>
              </a:rPr>
              <a:t>Crop</a:t>
            </a:r>
            <a:r>
              <a:rPr dirty="0" sz="1150" b="1">
                <a:latin typeface="Arial"/>
                <a:cs typeface="Arial"/>
              </a:rPr>
              <a:t>-</a:t>
            </a:r>
            <a:r>
              <a:rPr dirty="0" sz="1150" b="1">
                <a:latin typeface="Gill Sans MT"/>
                <a:cs typeface="Gill Sans MT"/>
              </a:rPr>
              <a:t>wise</a:t>
            </a:r>
            <a:r>
              <a:rPr dirty="0" sz="1150" spc="305" b="1">
                <a:latin typeface="Gill Sans MT"/>
                <a:cs typeface="Gill Sans MT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Analysis</a:t>
            </a:r>
            <a:endParaRPr sz="1150">
              <a:latin typeface="Gill Sans MT"/>
              <a:cs typeface="Gill Sans MT"/>
            </a:endParaRPr>
          </a:p>
          <a:p>
            <a:pPr marL="278765" marR="5080">
              <a:lnSpc>
                <a:spcPct val="125000"/>
              </a:lnSpc>
              <a:spcBef>
                <a:spcPts val="805"/>
              </a:spcBef>
            </a:pPr>
            <a:r>
              <a:rPr dirty="0" sz="1050" b="1">
                <a:latin typeface="Gill Sans MT"/>
                <a:cs typeface="Gill Sans MT"/>
              </a:rPr>
              <a:t>Rice</a:t>
            </a:r>
            <a:r>
              <a:rPr dirty="0" sz="1050" spc="25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Production</a:t>
            </a:r>
            <a:r>
              <a:rPr dirty="0" sz="1050" spc="-105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80">
                <a:latin typeface="Arial"/>
                <a:cs typeface="Arial"/>
              </a:rPr>
              <a:t>7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rice</a:t>
            </a:r>
            <a:r>
              <a:rPr dirty="0" sz="1050" spc="-30">
                <a:latin typeface="Arial"/>
                <a:cs typeface="Arial"/>
              </a:rPr>
              <a:t>-</a:t>
            </a:r>
            <a:r>
              <a:rPr dirty="0" sz="1050" spc="-10">
                <a:latin typeface="Verdana"/>
                <a:cs typeface="Verdana"/>
              </a:rPr>
              <a:t>producing </a:t>
            </a:r>
            <a:r>
              <a:rPr dirty="0" sz="1050">
                <a:latin typeface="Verdana"/>
                <a:cs typeface="Verdana"/>
              </a:rPr>
              <a:t>states</a:t>
            </a:r>
            <a:r>
              <a:rPr dirty="0" sz="1050">
                <a:latin typeface="Arial"/>
                <a:cs typeface="Arial"/>
              </a:rPr>
              <a:t>;</a:t>
            </a:r>
            <a:r>
              <a:rPr dirty="0" sz="1050" spc="-9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West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Bengal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leads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highest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output</a:t>
            </a:r>
            <a:r>
              <a:rPr dirty="0" sz="1050" spc="-10">
                <a:latin typeface="Arial"/>
                <a:cs typeface="Arial"/>
              </a:rPr>
              <a:t>. </a:t>
            </a:r>
            <a:r>
              <a:rPr dirty="0" sz="1050" spc="-20">
                <a:latin typeface="Verdana"/>
                <a:cs typeface="Verdana"/>
              </a:rPr>
              <a:t>Bar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plot</a:t>
            </a:r>
            <a:r>
              <a:rPr dirty="0" sz="1050" spc="-3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analysis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78765" marR="603885">
              <a:lnSpc>
                <a:spcPct val="125000"/>
              </a:lnSpc>
              <a:spcBef>
                <a:spcPts val="525"/>
              </a:spcBef>
            </a:pPr>
            <a:r>
              <a:rPr dirty="0" sz="1050" b="1">
                <a:latin typeface="Gill Sans MT"/>
                <a:cs typeface="Gill Sans MT"/>
              </a:rPr>
              <a:t>Sun</a:t>
            </a:r>
            <a:r>
              <a:rPr dirty="0" sz="1050" b="1">
                <a:latin typeface="Arial"/>
                <a:cs typeface="Arial"/>
              </a:rPr>
              <a:t>fl</a:t>
            </a:r>
            <a:r>
              <a:rPr dirty="0" sz="1050" b="1">
                <a:latin typeface="Gill Sans MT"/>
                <a:cs typeface="Gill Sans MT"/>
              </a:rPr>
              <a:t>ower</a:t>
            </a:r>
            <a:r>
              <a:rPr dirty="0" sz="1050" spc="35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Production</a:t>
            </a:r>
            <a:r>
              <a:rPr dirty="0" sz="1050" spc="-8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5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5">
                <a:latin typeface="Verdana"/>
                <a:cs typeface="Verdana"/>
              </a:rPr>
              <a:t> </a:t>
            </a:r>
            <a:r>
              <a:rPr dirty="0" sz="1050" spc="-80">
                <a:latin typeface="Arial"/>
                <a:cs typeface="Arial"/>
              </a:rPr>
              <a:t>7</a:t>
            </a:r>
            <a:r>
              <a:rPr dirty="0" sz="1050" spc="3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sun</a:t>
            </a:r>
            <a:r>
              <a:rPr dirty="0" sz="1050">
                <a:latin typeface="Arial"/>
                <a:cs typeface="Arial"/>
              </a:rPr>
              <a:t>fl</a:t>
            </a:r>
            <a:r>
              <a:rPr dirty="0" sz="1050">
                <a:latin typeface="Verdana"/>
                <a:cs typeface="Verdana"/>
              </a:rPr>
              <a:t>ower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states</a:t>
            </a:r>
            <a:r>
              <a:rPr dirty="0" sz="1050">
                <a:latin typeface="Arial"/>
                <a:cs typeface="Arial"/>
              </a:rPr>
              <a:t>;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Karnataka</a:t>
            </a:r>
            <a:r>
              <a:rPr dirty="0" sz="1050" spc="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leads</a:t>
            </a:r>
            <a:r>
              <a:rPr dirty="0" sz="1050" spc="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followed</a:t>
            </a:r>
            <a:r>
              <a:rPr dirty="0" sz="1050" spc="-1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by </a:t>
            </a:r>
            <a:r>
              <a:rPr dirty="0" sz="1050" spc="-10">
                <a:latin typeface="Verdana"/>
                <a:cs typeface="Verdana"/>
              </a:rPr>
              <a:t>Maharashtra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Andhra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Pradesh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78765" marR="283210">
              <a:lnSpc>
                <a:spcPct val="125000"/>
              </a:lnSpc>
              <a:spcBef>
                <a:spcPts val="525"/>
              </a:spcBef>
            </a:pPr>
            <a:r>
              <a:rPr dirty="0" sz="1050" spc="-10" b="1">
                <a:latin typeface="Gill Sans MT"/>
                <a:cs typeface="Gill Sans MT"/>
              </a:rPr>
              <a:t>Groundnut</a:t>
            </a:r>
            <a:r>
              <a:rPr dirty="0" sz="1050" spc="-100" b="1">
                <a:latin typeface="Gill Sans MT"/>
                <a:cs typeface="Gill Sans MT"/>
              </a:rPr>
              <a:t> </a:t>
            </a:r>
            <a:r>
              <a:rPr dirty="0" sz="1050" spc="-10" b="1">
                <a:latin typeface="Gill Sans MT"/>
                <a:cs typeface="Gill Sans MT"/>
              </a:rPr>
              <a:t>States</a:t>
            </a:r>
            <a:r>
              <a:rPr dirty="0" sz="1050" spc="-5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80">
                <a:latin typeface="Arial"/>
                <a:cs typeface="Arial"/>
              </a:rPr>
              <a:t>7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groundnut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10">
                <a:latin typeface="Verdana"/>
                <a:cs typeface="Verdana"/>
              </a:rPr>
              <a:t>producing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states</a:t>
            </a:r>
            <a:r>
              <a:rPr dirty="0" sz="1050">
                <a:latin typeface="Arial"/>
                <a:cs typeface="Arial"/>
              </a:rPr>
              <a:t>;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Gujarat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Rajasthan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lead </a:t>
            </a:r>
            <a:r>
              <a:rPr dirty="0" sz="1050" spc="-10">
                <a:latin typeface="Verdana"/>
                <a:cs typeface="Verdana"/>
              </a:rPr>
              <a:t>production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590799" y="4105273"/>
          <a:ext cx="2590800" cy="1682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825"/>
                <a:gridCol w="1057275"/>
                <a:gridCol w="1019175"/>
              </a:tblGrid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20">
                          <a:latin typeface="Lucida Sans"/>
                          <a:cs typeface="Lucida Sans"/>
                        </a:rPr>
                        <a:t>Rank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Lucida Sans"/>
                          <a:cs typeface="Lucida Sans"/>
                        </a:rPr>
                        <a:t>State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Relative</a:t>
                      </a:r>
                      <a:r>
                        <a:rPr dirty="0" sz="750" spc="120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 spc="-10">
                          <a:latin typeface="Lucida Sans"/>
                          <a:cs typeface="Lucida Sans"/>
                        </a:rPr>
                        <a:t>Output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1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70">
                          <a:latin typeface="Arial"/>
                          <a:cs typeface="Arial"/>
                        </a:rPr>
                        <a:t>West</a:t>
                      </a:r>
                      <a:r>
                        <a:rPr dirty="0" sz="75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45">
                          <a:latin typeface="Arial"/>
                          <a:cs typeface="Arial"/>
                        </a:rPr>
                        <a:t>Bengal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20">
                          <a:latin typeface="Arial"/>
                          <a:cs typeface="Arial"/>
                        </a:rPr>
                        <a:t>100%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60">
                          <a:latin typeface="Arial"/>
                          <a:cs typeface="Arial"/>
                        </a:rPr>
                        <a:t>Uttar</a:t>
                      </a:r>
                      <a:r>
                        <a:rPr dirty="0" sz="7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40">
                          <a:latin typeface="Arial"/>
                          <a:cs typeface="Arial"/>
                        </a:rPr>
                        <a:t>Pradesh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40">
                          <a:latin typeface="Arial"/>
                          <a:cs typeface="Arial"/>
                        </a:rPr>
                        <a:t>82%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3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55">
                          <a:latin typeface="Arial"/>
                          <a:cs typeface="Arial"/>
                        </a:rPr>
                        <a:t>Punjab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Arial"/>
                          <a:cs typeface="Arial"/>
                        </a:rPr>
                        <a:t>74%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4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80">
                          <a:latin typeface="Arial"/>
                          <a:cs typeface="Arial"/>
                        </a:rPr>
                        <a:t>Andhra</a:t>
                      </a:r>
                      <a:r>
                        <a:rPr dirty="0" sz="75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40">
                          <a:latin typeface="Arial"/>
                          <a:cs typeface="Arial"/>
                        </a:rPr>
                        <a:t>Pradesh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Arial"/>
                          <a:cs typeface="Arial"/>
                        </a:rPr>
                        <a:t>61%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5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40">
                          <a:latin typeface="Arial"/>
                          <a:cs typeface="Arial"/>
                        </a:rPr>
                        <a:t>Bihar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40">
                          <a:latin typeface="Arial"/>
                          <a:cs typeface="Arial"/>
                        </a:rPr>
                        <a:t>48%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981074" y="457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81074" y="923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8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81074" y="13906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81074" y="1857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81074" y="27908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81074" y="3257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54075" y="338246"/>
            <a:ext cx="5879465" cy="3657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marR="5080">
              <a:lnSpc>
                <a:spcPct val="125000"/>
              </a:lnSpc>
              <a:spcBef>
                <a:spcPts val="95"/>
              </a:spcBef>
            </a:pPr>
            <a:r>
              <a:rPr dirty="0" sz="1050" spc="-20" b="1">
                <a:latin typeface="Gill Sans MT"/>
                <a:cs typeface="Gill Sans MT"/>
              </a:rPr>
              <a:t>Wheat</a:t>
            </a:r>
            <a:r>
              <a:rPr dirty="0" sz="1050" spc="-100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Analysis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wheat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states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10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bar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chart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50">
                <a:latin typeface="Verdana"/>
                <a:cs typeface="Verdana"/>
              </a:rPr>
              <a:t>pie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chart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(%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share</a:t>
            </a:r>
            <a:r>
              <a:rPr dirty="0" sz="1050" spc="-30">
                <a:latin typeface="Arial"/>
                <a:cs typeface="Arial"/>
              </a:rPr>
              <a:t>).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Punjab</a:t>
            </a:r>
            <a:r>
              <a:rPr dirty="0" sz="1050" spc="-13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 </a:t>
            </a:r>
            <a:r>
              <a:rPr dirty="0" sz="1050">
                <a:latin typeface="Verdana"/>
                <a:cs typeface="Verdana"/>
              </a:rPr>
              <a:t>Uttar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Pradesh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dominate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78765" marR="472440">
              <a:lnSpc>
                <a:spcPct val="125000"/>
              </a:lnSpc>
              <a:spcBef>
                <a:spcPts val="525"/>
              </a:spcBef>
            </a:pPr>
            <a:r>
              <a:rPr dirty="0" sz="1050" b="1">
                <a:latin typeface="Gill Sans MT"/>
                <a:cs typeface="Gill Sans MT"/>
              </a:rPr>
              <a:t>Sugarcane</a:t>
            </a:r>
            <a:r>
              <a:rPr dirty="0" sz="1050" spc="25" b="1">
                <a:latin typeface="Gill Sans MT"/>
                <a:cs typeface="Gill Sans MT"/>
              </a:rPr>
              <a:t> </a:t>
            </a:r>
            <a:r>
              <a:rPr dirty="0" sz="1050" b="1">
                <a:latin typeface="Arial"/>
                <a:cs typeface="Arial"/>
              </a:rPr>
              <a:t>50-</a:t>
            </a:r>
            <a:r>
              <a:rPr dirty="0" sz="1050" spc="-35" b="1">
                <a:latin typeface="Gill Sans MT"/>
                <a:cs typeface="Gill Sans MT"/>
              </a:rPr>
              <a:t>Year</a:t>
            </a:r>
            <a:r>
              <a:rPr dirty="0" sz="1050" spc="-10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Trend</a:t>
            </a:r>
            <a:r>
              <a:rPr dirty="0" sz="1050" spc="1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growth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line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plot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from</a:t>
            </a:r>
            <a:r>
              <a:rPr dirty="0" sz="1050" spc="-150">
                <a:latin typeface="Verdana"/>
                <a:cs typeface="Verdana"/>
              </a:rPr>
              <a:t> </a:t>
            </a:r>
            <a:r>
              <a:rPr dirty="0" sz="1050" spc="-55">
                <a:latin typeface="Arial"/>
                <a:cs typeface="Arial"/>
              </a:rPr>
              <a:t>1966–2017;</a:t>
            </a:r>
            <a:r>
              <a:rPr dirty="0" sz="1050" spc="-95">
                <a:latin typeface="Arial"/>
                <a:cs typeface="Arial"/>
              </a:rPr>
              <a:t> </a:t>
            </a:r>
            <a:r>
              <a:rPr dirty="0" sz="1050" spc="80">
                <a:latin typeface="Verdana"/>
                <a:cs typeface="Verdana"/>
              </a:rPr>
              <a:t>UP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 </a:t>
            </a:r>
            <a:r>
              <a:rPr dirty="0" sz="1050" spc="-10">
                <a:latin typeface="Verdana"/>
                <a:cs typeface="Verdana"/>
              </a:rPr>
              <a:t>Maharashtra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are </a:t>
            </a:r>
            <a:r>
              <a:rPr dirty="0" sz="1050">
                <a:latin typeface="Verdana"/>
                <a:cs typeface="Verdana"/>
              </a:rPr>
              <a:t>top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producers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78765" marR="158750">
              <a:lnSpc>
                <a:spcPct val="125000"/>
              </a:lnSpc>
              <a:spcBef>
                <a:spcPts val="525"/>
              </a:spcBef>
            </a:pPr>
            <a:r>
              <a:rPr dirty="0" sz="1050" b="1">
                <a:latin typeface="Gill Sans MT"/>
                <a:cs typeface="Gill Sans MT"/>
              </a:rPr>
              <a:t>Soybean</a:t>
            </a:r>
            <a:r>
              <a:rPr dirty="0" sz="1050" spc="-100" b="1">
                <a:latin typeface="Gill Sans MT"/>
                <a:cs typeface="Gill Sans MT"/>
              </a:rPr>
              <a:t> </a:t>
            </a:r>
            <a:r>
              <a:rPr dirty="0" sz="1050" spc="85" b="1">
                <a:latin typeface="Gill Sans MT"/>
                <a:cs typeface="Gill Sans MT"/>
              </a:rPr>
              <a:t>E</a:t>
            </a:r>
            <a:r>
              <a:rPr dirty="0" sz="1050" spc="85" b="1">
                <a:latin typeface="Arial"/>
                <a:cs typeface="Arial"/>
              </a:rPr>
              <a:t>fi</a:t>
            </a:r>
            <a:r>
              <a:rPr dirty="0" sz="1050" spc="85" b="1">
                <a:latin typeface="Gill Sans MT"/>
                <a:cs typeface="Gill Sans MT"/>
              </a:rPr>
              <a:t>ciency</a:t>
            </a:r>
            <a:r>
              <a:rPr dirty="0" sz="1050" spc="-1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40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soybean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states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yield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e</a:t>
            </a:r>
            <a:r>
              <a:rPr dirty="0" sz="1050">
                <a:latin typeface="Arial"/>
                <a:cs typeface="Arial"/>
              </a:rPr>
              <a:t>fi</a:t>
            </a:r>
            <a:r>
              <a:rPr dirty="0" sz="1050">
                <a:latin typeface="Verdana"/>
                <a:cs typeface="Verdana"/>
              </a:rPr>
              <a:t>ciency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comparison</a:t>
            </a:r>
            <a:r>
              <a:rPr dirty="0" sz="1050" spc="-25">
                <a:latin typeface="Arial"/>
                <a:cs typeface="Arial"/>
              </a:rPr>
              <a:t>;</a:t>
            </a:r>
            <a:r>
              <a:rPr dirty="0" sz="1050" spc="-8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Madhya Pradesh</a:t>
            </a:r>
            <a:r>
              <a:rPr dirty="0" sz="1050" spc="-12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leads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production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78765" marR="386080">
              <a:lnSpc>
                <a:spcPct val="125000"/>
              </a:lnSpc>
              <a:spcBef>
                <a:spcPts val="525"/>
              </a:spcBef>
            </a:pPr>
            <a:r>
              <a:rPr dirty="0" sz="1050" b="1">
                <a:latin typeface="Gill Sans MT"/>
                <a:cs typeface="Gill Sans MT"/>
              </a:rPr>
              <a:t>Oilseed</a:t>
            </a:r>
            <a:r>
              <a:rPr dirty="0" sz="1050" spc="-25" b="1">
                <a:latin typeface="Gill Sans MT"/>
                <a:cs typeface="Gill Sans MT"/>
              </a:rPr>
              <a:t> </a:t>
            </a:r>
            <a:r>
              <a:rPr dirty="0" sz="1050" spc="-10" b="1">
                <a:latin typeface="Gill Sans MT"/>
                <a:cs typeface="Gill Sans MT"/>
              </a:rPr>
              <a:t>States</a:t>
            </a:r>
            <a:r>
              <a:rPr dirty="0" sz="1050" spc="-2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oilseed</a:t>
            </a:r>
            <a:r>
              <a:rPr dirty="0" sz="1050" spc="-10">
                <a:latin typeface="Arial"/>
                <a:cs typeface="Arial"/>
              </a:rPr>
              <a:t>-</a:t>
            </a:r>
            <a:r>
              <a:rPr dirty="0" sz="1050" spc="-10">
                <a:latin typeface="Verdana"/>
                <a:cs typeface="Verdana"/>
              </a:rPr>
              <a:t>producing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states</a:t>
            </a:r>
            <a:r>
              <a:rPr dirty="0" sz="1050">
                <a:latin typeface="Arial"/>
                <a:cs typeface="Arial"/>
              </a:rPr>
              <a:t>;</a:t>
            </a:r>
            <a:r>
              <a:rPr dirty="0" sz="1050" spc="-114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Rajasthan</a:t>
            </a:r>
            <a:r>
              <a:rPr dirty="0" sz="1050" spc="-12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90">
                <a:latin typeface="Verdana"/>
                <a:cs typeface="Verdana"/>
              </a:rPr>
              <a:t>MP</a:t>
            </a:r>
            <a:r>
              <a:rPr dirty="0" sz="1050" spc="-13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show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highest cultivation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areas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Comparative</a:t>
            </a:r>
            <a:r>
              <a:rPr dirty="0" sz="1150" spc="405" b="1">
                <a:latin typeface="Gill Sans MT"/>
                <a:cs typeface="Gill Sans MT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Analysis</a:t>
            </a:r>
            <a:endParaRPr sz="1150">
              <a:latin typeface="Gill Sans MT"/>
              <a:cs typeface="Gill Sans MT"/>
            </a:endParaRPr>
          </a:p>
          <a:p>
            <a:pPr marL="278765" marR="362585">
              <a:lnSpc>
                <a:spcPct val="125000"/>
              </a:lnSpc>
              <a:spcBef>
                <a:spcPts val="805"/>
              </a:spcBef>
            </a:pPr>
            <a:r>
              <a:rPr dirty="0" sz="1050" b="1">
                <a:latin typeface="Gill Sans MT"/>
                <a:cs typeface="Gill Sans MT"/>
              </a:rPr>
              <a:t>Rice</a:t>
            </a:r>
            <a:r>
              <a:rPr dirty="0" sz="1050" spc="25" b="1">
                <a:latin typeface="Gill Sans MT"/>
                <a:cs typeface="Gill Sans MT"/>
              </a:rPr>
              <a:t> </a:t>
            </a:r>
            <a:r>
              <a:rPr dirty="0" sz="1050" spc="50" b="1">
                <a:latin typeface="Gill Sans MT"/>
                <a:cs typeface="Gill Sans MT"/>
              </a:rPr>
              <a:t>vs</a:t>
            </a:r>
            <a:r>
              <a:rPr dirty="0" sz="1050" spc="20" b="1">
                <a:latin typeface="Gill Sans MT"/>
                <a:cs typeface="Gill Sans MT"/>
              </a:rPr>
              <a:t> </a:t>
            </a:r>
            <a:r>
              <a:rPr dirty="0" sz="1050" spc="-20" b="1">
                <a:latin typeface="Gill Sans MT"/>
                <a:cs typeface="Gill Sans MT"/>
              </a:rPr>
              <a:t>Wheat</a:t>
            </a:r>
            <a:r>
              <a:rPr dirty="0" sz="1050" spc="-80" b="1">
                <a:latin typeface="Gill Sans MT"/>
                <a:cs typeface="Gill Sans MT"/>
              </a:rPr>
              <a:t> </a:t>
            </a:r>
            <a:r>
              <a:rPr dirty="0" sz="1050" b="1">
                <a:latin typeface="Arial"/>
                <a:cs typeface="Arial"/>
              </a:rPr>
              <a:t>(50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spc="-20" b="1">
                <a:latin typeface="Gill Sans MT"/>
                <a:cs typeface="Gill Sans MT"/>
              </a:rPr>
              <a:t>Years</a:t>
            </a:r>
            <a:r>
              <a:rPr dirty="0" sz="1050" spc="-20" b="1">
                <a:latin typeface="Arial"/>
                <a:cs typeface="Arial"/>
              </a:rPr>
              <a:t>)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Long</a:t>
            </a:r>
            <a:r>
              <a:rPr dirty="0" sz="1050" spc="-10">
                <a:latin typeface="Arial"/>
                <a:cs typeface="Arial"/>
              </a:rPr>
              <a:t>-</a:t>
            </a:r>
            <a:r>
              <a:rPr dirty="0" sz="1050" spc="-180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term</a:t>
            </a:r>
            <a:r>
              <a:rPr dirty="0" sz="1050" spc="-1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trend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comparison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showing</a:t>
            </a:r>
            <a:r>
              <a:rPr dirty="0" sz="1050" spc="-10">
                <a:latin typeface="Verdana"/>
                <a:cs typeface="Verdana"/>
              </a:rPr>
              <a:t> </a:t>
            </a:r>
            <a:r>
              <a:rPr dirty="0" sz="1050" spc="-50">
                <a:latin typeface="Verdana"/>
                <a:cs typeface="Verdana"/>
              </a:rPr>
              <a:t>rice</a:t>
            </a:r>
            <a:r>
              <a:rPr dirty="0" sz="1050" spc="-3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maintaining consistently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higher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levels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78765" marR="82550">
              <a:lnSpc>
                <a:spcPct val="125000"/>
              </a:lnSpc>
              <a:spcBef>
                <a:spcPts val="525"/>
              </a:spcBef>
            </a:pPr>
            <a:r>
              <a:rPr dirty="0" sz="1050" b="1">
                <a:latin typeface="Gill Sans MT"/>
                <a:cs typeface="Gill Sans MT"/>
              </a:rPr>
              <a:t>Area</a:t>
            </a:r>
            <a:r>
              <a:rPr dirty="0" sz="1050" spc="10" b="1">
                <a:latin typeface="Gill Sans MT"/>
                <a:cs typeface="Gill Sans MT"/>
              </a:rPr>
              <a:t> </a:t>
            </a:r>
            <a:r>
              <a:rPr dirty="0" sz="1050" spc="50" b="1">
                <a:latin typeface="Gill Sans MT"/>
                <a:cs typeface="Gill Sans MT"/>
              </a:rPr>
              <a:t>vs</a:t>
            </a:r>
            <a:r>
              <a:rPr dirty="0" sz="1050" spc="10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Production</a:t>
            </a:r>
            <a:r>
              <a:rPr dirty="0" sz="1050" spc="-110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Correlation</a:t>
            </a:r>
            <a:r>
              <a:rPr dirty="0" sz="1050" spc="-110" b="1">
                <a:latin typeface="Gill Sans MT"/>
                <a:cs typeface="Gill Sans MT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Strong</a:t>
            </a:r>
            <a:r>
              <a:rPr dirty="0" sz="1050" spc="-1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positive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correlation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between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cultivated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area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Rice</a:t>
            </a:r>
            <a:r>
              <a:rPr dirty="0" sz="1050" spc="-25">
                <a:latin typeface="Arial"/>
                <a:cs typeface="Arial"/>
              </a:rPr>
              <a:t>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Maize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Top</a:t>
            </a:r>
            <a:r>
              <a:rPr dirty="0" sz="1150" spc="200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5</a:t>
            </a:r>
            <a:r>
              <a:rPr dirty="0" sz="1150" spc="229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Rice</a:t>
            </a:r>
            <a:r>
              <a:rPr dirty="0" sz="1150" b="1">
                <a:latin typeface="Arial"/>
                <a:cs typeface="Arial"/>
              </a:rPr>
              <a:t>-</a:t>
            </a:r>
            <a:r>
              <a:rPr dirty="0" sz="1150" b="1">
                <a:latin typeface="Gill Sans MT"/>
                <a:cs typeface="Gill Sans MT"/>
              </a:rPr>
              <a:t>Producing</a:t>
            </a:r>
            <a:r>
              <a:rPr dirty="0" sz="1150" spc="27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States</a:t>
            </a:r>
            <a:r>
              <a:rPr dirty="0" sz="1150" spc="245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(</a:t>
            </a:r>
            <a:r>
              <a:rPr dirty="0" sz="1150" b="1">
                <a:latin typeface="Gill Sans MT"/>
                <a:cs typeface="Gill Sans MT"/>
              </a:rPr>
              <a:t>Relative</a:t>
            </a:r>
            <a:r>
              <a:rPr dirty="0" sz="1150" spc="250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Output</a:t>
            </a:r>
            <a:r>
              <a:rPr dirty="0" sz="1150" spc="-10" b="1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781674" y="6496048"/>
            <a:ext cx="638175" cy="133350"/>
          </a:xfrm>
          <a:custGeom>
            <a:avLst/>
            <a:gdLst/>
            <a:ahLst/>
            <a:cxnLst/>
            <a:rect l="l" t="t" r="r" b="b"/>
            <a:pathLst>
              <a:path w="638175" h="133350">
                <a:moveTo>
                  <a:pt x="638174" y="133349"/>
                </a:moveTo>
                <a:lnTo>
                  <a:pt x="0" y="133349"/>
                </a:lnTo>
                <a:lnTo>
                  <a:pt x="0" y="0"/>
                </a:lnTo>
                <a:lnTo>
                  <a:pt x="638174" y="0"/>
                </a:lnTo>
                <a:lnTo>
                  <a:pt x="638174" y="133349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54075" y="6142080"/>
            <a:ext cx="5614670" cy="33089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latin typeface="Arial"/>
                <a:cs typeface="Arial"/>
              </a:rPr>
              <a:t>5.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SQL</a:t>
            </a:r>
            <a:r>
              <a:rPr dirty="0" sz="1150" spc="40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Database</a:t>
            </a:r>
            <a:r>
              <a:rPr dirty="0" sz="1150" spc="100" b="1">
                <a:latin typeface="Gill Sans MT"/>
                <a:cs typeface="Gill Sans MT"/>
              </a:rPr>
              <a:t> </a:t>
            </a:r>
            <a:r>
              <a:rPr dirty="0" sz="1150" spc="70" b="1">
                <a:latin typeface="Arial"/>
                <a:cs typeface="Arial"/>
              </a:rPr>
              <a:t>&amp;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45" b="1">
                <a:latin typeface="Gill Sans MT"/>
                <a:cs typeface="Gill Sans MT"/>
              </a:rPr>
              <a:t>Business</a:t>
            </a:r>
            <a:r>
              <a:rPr dirty="0" sz="1150" spc="95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Questions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5000"/>
              </a:lnSpc>
              <a:spcBef>
                <a:spcPts val="805"/>
              </a:spcBef>
            </a:pPr>
            <a:r>
              <a:rPr dirty="0" sz="1050" spc="-35" b="1">
                <a:latin typeface="Gill Sans MT"/>
                <a:cs typeface="Gill Sans MT"/>
              </a:rPr>
              <a:t>Setup</a:t>
            </a:r>
            <a:r>
              <a:rPr dirty="0" sz="1050" spc="-35" b="1">
                <a:latin typeface="Arial"/>
                <a:cs typeface="Arial"/>
              </a:rPr>
              <a:t>:</a:t>
            </a:r>
            <a:r>
              <a:rPr dirty="0" sz="1050" spc="-90" b="1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MySQL</a:t>
            </a:r>
            <a:r>
              <a:rPr dirty="0" sz="1050" spc="-160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database</a:t>
            </a:r>
            <a:r>
              <a:rPr dirty="0" sz="1050" spc="-1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created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65">
                <a:latin typeface="Verdana"/>
                <a:cs typeface="Verdana"/>
              </a:rPr>
              <a:t>via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Python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40">
                <a:latin typeface="Arial"/>
                <a:cs typeface="Arial"/>
              </a:rPr>
              <a:t>(</a:t>
            </a:r>
            <a:r>
              <a:rPr dirty="0" sz="1050" spc="-40">
                <a:latin typeface="Verdana"/>
                <a:cs typeface="Verdana"/>
              </a:rPr>
              <a:t>mysql</a:t>
            </a:r>
            <a:r>
              <a:rPr dirty="0" sz="1050" spc="-40">
                <a:latin typeface="Arial"/>
                <a:cs typeface="Arial"/>
              </a:rPr>
              <a:t>-</a:t>
            </a:r>
            <a:r>
              <a:rPr dirty="0" sz="1050" spc="-17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connector</a:t>
            </a:r>
            <a:r>
              <a:rPr dirty="0" sz="1050" spc="-10">
                <a:latin typeface="Arial"/>
                <a:cs typeface="Arial"/>
              </a:rPr>
              <a:t>-</a:t>
            </a:r>
            <a:r>
              <a:rPr dirty="0" sz="1050" spc="-10">
                <a:latin typeface="Verdana"/>
                <a:cs typeface="Verdana"/>
              </a:rPr>
              <a:t>python</a:t>
            </a:r>
            <a:r>
              <a:rPr dirty="0" sz="1050" spc="-10">
                <a:latin typeface="Arial"/>
                <a:cs typeface="Arial"/>
              </a:rPr>
              <a:t>).</a:t>
            </a:r>
            <a:r>
              <a:rPr dirty="0" sz="1050" spc="-8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Table</a:t>
            </a:r>
            <a:r>
              <a:rPr dirty="0" sz="1050" spc="-25">
                <a:latin typeface="Arial"/>
                <a:cs typeface="Arial"/>
              </a:rPr>
              <a:t>:</a:t>
            </a:r>
            <a:r>
              <a:rPr dirty="0" sz="1050" spc="-80">
                <a:latin typeface="Arial"/>
                <a:cs typeface="Arial"/>
              </a:rPr>
              <a:t> </a:t>
            </a:r>
            <a:r>
              <a:rPr dirty="0" sz="800" spc="50">
                <a:latin typeface="Courier New"/>
                <a:cs typeface="Courier New"/>
              </a:rPr>
              <a:t>crop_data</a:t>
            </a:r>
            <a:r>
              <a:rPr dirty="0" sz="1050" spc="50">
                <a:latin typeface="Arial"/>
                <a:cs typeface="Arial"/>
              </a:rPr>
              <a:t>. </a:t>
            </a:r>
            <a:r>
              <a:rPr dirty="0" sz="1050" spc="-35">
                <a:latin typeface="Verdana"/>
                <a:cs typeface="Verdana"/>
              </a:rPr>
              <a:t>Queries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executed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65">
                <a:latin typeface="Verdana"/>
                <a:cs typeface="Verdana"/>
              </a:rPr>
              <a:t>via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SQLAlchemy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Arial"/>
                <a:cs typeface="Arial"/>
              </a:rPr>
              <a:t>10</a:t>
            </a:r>
            <a:r>
              <a:rPr dirty="0" sz="1150" spc="155" b="1">
                <a:latin typeface="Arial"/>
                <a:cs typeface="Arial"/>
              </a:rPr>
              <a:t> </a:t>
            </a:r>
            <a:r>
              <a:rPr dirty="0" sz="1150" spc="45" b="1">
                <a:latin typeface="Gill Sans MT"/>
                <a:cs typeface="Gill Sans MT"/>
              </a:rPr>
              <a:t>Business</a:t>
            </a:r>
            <a:r>
              <a:rPr dirty="0" sz="1150" spc="140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Questions</a:t>
            </a:r>
            <a:r>
              <a:rPr dirty="0" sz="1150" spc="145" b="1">
                <a:latin typeface="Gill Sans MT"/>
                <a:cs typeface="Gill Sans MT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Addressed</a:t>
            </a:r>
            <a:endParaRPr sz="11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50">
              <a:latin typeface="Gill Sans MT"/>
              <a:cs typeface="Gill Sans MT"/>
            </a:endParaRPr>
          </a:p>
          <a:p>
            <a:pPr marL="279400" indent="-133985">
              <a:lnSpc>
                <a:spcPct val="100000"/>
              </a:lnSpc>
              <a:buFont typeface="Arial"/>
              <a:buAutoNum type="arabicPeriod"/>
              <a:tabLst>
                <a:tab pos="279400" algn="l"/>
              </a:tabLst>
            </a:pPr>
            <a:r>
              <a:rPr dirty="0" sz="1050" spc="-40">
                <a:latin typeface="Verdana"/>
                <a:cs typeface="Verdana"/>
              </a:rPr>
              <a:t>Year</a:t>
            </a:r>
            <a:r>
              <a:rPr dirty="0" sz="1050" spc="-40">
                <a:latin typeface="Arial"/>
                <a:cs typeface="Arial"/>
              </a:rPr>
              <a:t>-</a:t>
            </a:r>
            <a:r>
              <a:rPr dirty="0" sz="1050" spc="-40">
                <a:latin typeface="Verdana"/>
                <a:cs typeface="Verdana"/>
              </a:rPr>
              <a:t>wise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Trend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of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Rice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10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Across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States</a:t>
            </a:r>
            <a:endParaRPr sz="1050">
              <a:latin typeface="Verdana"/>
              <a:cs typeface="Verdana"/>
            </a:endParaRPr>
          </a:p>
          <a:p>
            <a:pPr marL="279400" indent="-133985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Districts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55">
                <a:latin typeface="Verdana"/>
                <a:cs typeface="Verdana"/>
              </a:rPr>
              <a:t>by</a:t>
            </a:r>
            <a:r>
              <a:rPr dirty="0" sz="1050" spc="-114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Increase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</a:t>
            </a:r>
            <a:r>
              <a:rPr dirty="0" sz="1050" spc="-10">
                <a:latin typeface="Verdana"/>
                <a:cs typeface="Verdana"/>
              </a:rPr>
              <a:t>Last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Years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 marL="279400" indent="-133985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dirty="0" sz="1050" spc="-40">
                <a:latin typeface="Verdana"/>
                <a:cs typeface="Verdana"/>
              </a:rPr>
              <a:t>States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Highest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Oilseed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(5-</a:t>
            </a:r>
            <a:r>
              <a:rPr dirty="0" sz="1050" spc="-40">
                <a:latin typeface="Verdana"/>
                <a:cs typeface="Verdana"/>
              </a:rPr>
              <a:t>Year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Rate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 marL="279400" indent="-133985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dirty="0" sz="1050" spc="-25">
                <a:latin typeface="Verdana"/>
                <a:cs typeface="Verdana"/>
              </a:rPr>
              <a:t>District</a:t>
            </a:r>
            <a:r>
              <a:rPr dirty="0" sz="1050" spc="-25">
                <a:latin typeface="Arial"/>
                <a:cs typeface="Arial"/>
              </a:rPr>
              <a:t>-</a:t>
            </a:r>
            <a:r>
              <a:rPr dirty="0" sz="1050" spc="-40">
                <a:latin typeface="Verdana"/>
                <a:cs typeface="Verdana"/>
              </a:rPr>
              <a:t>wise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Correlation</a:t>
            </a:r>
            <a:r>
              <a:rPr dirty="0" sz="1050">
                <a:latin typeface="Arial"/>
                <a:cs typeface="Arial"/>
              </a:rPr>
              <a:t>: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Area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55">
                <a:latin typeface="Verdana"/>
                <a:cs typeface="Verdana"/>
              </a:rPr>
              <a:t>vs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20">
                <a:latin typeface="Arial"/>
                <a:cs typeface="Arial"/>
              </a:rPr>
              <a:t>(</a:t>
            </a:r>
            <a:r>
              <a:rPr dirty="0" sz="1050" spc="-20">
                <a:latin typeface="Verdana"/>
                <a:cs typeface="Verdana"/>
              </a:rPr>
              <a:t>Rice</a:t>
            </a:r>
            <a:r>
              <a:rPr dirty="0" sz="1050" spc="-20">
                <a:latin typeface="Arial"/>
                <a:cs typeface="Arial"/>
              </a:rPr>
              <a:t>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Maize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 marL="279400" indent="-133985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dirty="0" sz="1050" spc="-20">
                <a:latin typeface="Verdana"/>
                <a:cs typeface="Verdana"/>
              </a:rPr>
              <a:t>Yearly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Growth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of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Cotton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4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Cotton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10">
                <a:latin typeface="Verdana"/>
                <a:cs typeface="Verdana"/>
              </a:rPr>
              <a:t>Producing</a:t>
            </a:r>
            <a:r>
              <a:rPr dirty="0" sz="10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States</a:t>
            </a:r>
            <a:endParaRPr sz="1050">
              <a:latin typeface="Verdana"/>
              <a:cs typeface="Verdana"/>
            </a:endParaRPr>
          </a:p>
          <a:p>
            <a:pPr marL="279400" indent="-133985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dirty="0" sz="1050" spc="-30">
                <a:latin typeface="Verdana"/>
                <a:cs typeface="Verdana"/>
              </a:rPr>
              <a:t>Districts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Highest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Groundnut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0">
                <a:latin typeface="Arial"/>
                <a:cs typeface="Arial"/>
              </a:rPr>
              <a:t>2017</a:t>
            </a:r>
            <a:endParaRPr sz="1050">
              <a:latin typeface="Arial"/>
              <a:cs typeface="Arial"/>
            </a:endParaRPr>
          </a:p>
          <a:p>
            <a:pPr marL="279400" indent="-133985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dirty="0" sz="1050">
                <a:latin typeface="Verdana"/>
                <a:cs typeface="Verdana"/>
              </a:rPr>
              <a:t>Annual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Average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Across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70">
                <a:latin typeface="Verdana"/>
                <a:cs typeface="Verdana"/>
              </a:rPr>
              <a:t>All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States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(</a:t>
            </a:r>
            <a:r>
              <a:rPr dirty="0" sz="1050">
                <a:latin typeface="Verdana"/>
                <a:cs typeface="Verdana"/>
              </a:rPr>
              <a:t>Trend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Analysis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 marL="279400" indent="-133985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79400" algn="l"/>
              </a:tabLst>
            </a:pPr>
            <a:r>
              <a:rPr dirty="0" sz="1050">
                <a:latin typeface="Verdana"/>
                <a:cs typeface="Verdana"/>
              </a:rPr>
              <a:t>Total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Area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Cultivated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Oilseeds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Each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State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81074" y="20478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81074" y="23145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81074" y="25812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81074" y="28479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81074" y="35813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81074" y="38480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81074" y="41147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81074" y="43814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81074" y="51149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81074" y="53816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81074" y="56483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81074" y="59150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981074" y="66389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981074" y="69056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981074" y="71723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81074" y="74390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81074" y="81724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981074" y="84391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981074" y="87058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981074" y="89725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81074" y="92392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81074" y="95059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854075" y="375691"/>
            <a:ext cx="5502910" cy="9236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latin typeface="Arial"/>
                <a:cs typeface="Arial"/>
              </a:rPr>
              <a:t>9.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Districts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with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the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Highest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Rice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</a:t>
            </a:r>
            <a:r>
              <a:rPr dirty="0" sz="1050" spc="-10">
                <a:latin typeface="Verdana"/>
                <a:cs typeface="Verdana"/>
              </a:rPr>
              <a:t>kg</a:t>
            </a:r>
            <a:r>
              <a:rPr dirty="0" sz="1050" spc="-10">
                <a:latin typeface="Arial"/>
                <a:cs typeface="Arial"/>
              </a:rPr>
              <a:t>/</a:t>
            </a:r>
            <a:r>
              <a:rPr dirty="0" sz="1050" spc="-10">
                <a:latin typeface="Verdana"/>
                <a:cs typeface="Verdana"/>
              </a:rPr>
              <a:t>ha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10.</a:t>
            </a:r>
            <a:r>
              <a:rPr dirty="0" sz="1050" spc="-110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Compare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Rice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-40">
                <a:latin typeface="Verdana"/>
                <a:cs typeface="Verdana"/>
              </a:rPr>
              <a:t>States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Over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30">
                <a:latin typeface="Arial"/>
                <a:cs typeface="Arial"/>
              </a:rPr>
              <a:t>10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Years</a:t>
            </a:r>
            <a:endParaRPr sz="1050">
              <a:latin typeface="Verdana"/>
              <a:cs typeface="Verdana"/>
            </a:endParaRPr>
          </a:p>
          <a:p>
            <a:pPr marL="12700" marR="3011805">
              <a:lnSpc>
                <a:spcPct val="266300"/>
              </a:lnSpc>
              <a:spcBef>
                <a:spcPts val="770"/>
              </a:spcBef>
            </a:pPr>
            <a:r>
              <a:rPr dirty="0" sz="1150" spc="55" b="1">
                <a:latin typeface="Arial"/>
                <a:cs typeface="Arial"/>
              </a:rPr>
              <a:t>6.</a:t>
            </a:r>
            <a:r>
              <a:rPr dirty="0" sz="1150" spc="30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Power</a:t>
            </a:r>
            <a:r>
              <a:rPr dirty="0" sz="1150" spc="100" b="1">
                <a:latin typeface="Gill Sans MT"/>
                <a:cs typeface="Gill Sans MT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BI</a:t>
            </a:r>
            <a:r>
              <a:rPr dirty="0" sz="1150" spc="40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Dashboard</a:t>
            </a:r>
            <a:r>
              <a:rPr dirty="0" sz="1150" spc="90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110" b="1">
                <a:latin typeface="Arial"/>
                <a:cs typeface="Arial"/>
              </a:rPr>
              <a:t> </a:t>
            </a:r>
            <a:r>
              <a:rPr dirty="0" sz="1150" spc="60" b="1">
                <a:latin typeface="Arial"/>
                <a:cs typeface="Arial"/>
              </a:rPr>
              <a:t>4</a:t>
            </a:r>
            <a:r>
              <a:rPr dirty="0" sz="1150" spc="120" b="1">
                <a:latin typeface="Arial"/>
                <a:cs typeface="Arial"/>
              </a:rPr>
              <a:t> </a:t>
            </a:r>
            <a:r>
              <a:rPr dirty="0" sz="1150" spc="30" b="1">
                <a:latin typeface="Gill Sans MT"/>
                <a:cs typeface="Gill Sans MT"/>
              </a:rPr>
              <a:t>Pages </a:t>
            </a:r>
            <a:r>
              <a:rPr dirty="0" sz="1150" b="1">
                <a:latin typeface="Gill Sans MT"/>
                <a:cs typeface="Gill Sans MT"/>
              </a:rPr>
              <a:t>Page</a:t>
            </a:r>
            <a:r>
              <a:rPr dirty="0" sz="1150" spc="85" b="1">
                <a:latin typeface="Gill Sans MT"/>
                <a:cs typeface="Gill Sans MT"/>
              </a:rPr>
              <a:t> </a:t>
            </a:r>
            <a:r>
              <a:rPr dirty="0" sz="1150" spc="-114" b="1">
                <a:latin typeface="Arial"/>
                <a:cs typeface="Arial"/>
              </a:rPr>
              <a:t>1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Overview</a:t>
            </a:r>
            <a:endParaRPr sz="1150">
              <a:latin typeface="Gill Sans MT"/>
              <a:cs typeface="Gill Sans MT"/>
            </a:endParaRPr>
          </a:p>
          <a:p>
            <a:pPr marL="278765" marR="129539">
              <a:lnSpc>
                <a:spcPct val="166700"/>
              </a:lnSpc>
              <a:spcBef>
                <a:spcPts val="204"/>
              </a:spcBef>
            </a:pPr>
            <a:r>
              <a:rPr dirty="0" sz="1050">
                <a:latin typeface="Verdana"/>
                <a:cs typeface="Verdana"/>
              </a:rPr>
              <a:t>KPI</a:t>
            </a:r>
            <a:r>
              <a:rPr dirty="0" sz="1050" spc="-1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Cards</a:t>
            </a:r>
            <a:r>
              <a:rPr dirty="0" sz="1050" spc="-10">
                <a:latin typeface="Arial"/>
                <a:cs typeface="Arial"/>
              </a:rPr>
              <a:t>: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Total</a:t>
            </a:r>
            <a:r>
              <a:rPr dirty="0" sz="1050" spc="-45">
                <a:latin typeface="Verdana"/>
                <a:cs typeface="Verdana"/>
              </a:rPr>
              <a:t> Rice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(3.63</a:t>
            </a:r>
            <a:r>
              <a:rPr dirty="0" sz="1050">
                <a:latin typeface="Verdana"/>
                <a:cs typeface="Verdana"/>
              </a:rPr>
              <a:t>M</a:t>
            </a:r>
            <a:r>
              <a:rPr dirty="0" sz="1050">
                <a:latin typeface="Arial"/>
                <a:cs typeface="Arial"/>
              </a:rPr>
              <a:t>),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(2.94</a:t>
            </a:r>
            <a:r>
              <a:rPr dirty="0" sz="1050">
                <a:latin typeface="Verdana"/>
                <a:cs typeface="Verdana"/>
              </a:rPr>
              <a:t>M</a:t>
            </a:r>
            <a:r>
              <a:rPr dirty="0" sz="1050">
                <a:latin typeface="Arial"/>
                <a:cs typeface="Arial"/>
              </a:rPr>
              <a:t>),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Cotton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55">
                <a:latin typeface="Arial"/>
                <a:cs typeface="Arial"/>
              </a:rPr>
              <a:t>(116.73</a:t>
            </a:r>
            <a:r>
              <a:rPr dirty="0" sz="1050" spc="-55">
                <a:latin typeface="Verdana"/>
                <a:cs typeface="Verdana"/>
              </a:rPr>
              <a:t>K</a:t>
            </a:r>
            <a:r>
              <a:rPr dirty="0" sz="1050" spc="-55">
                <a:latin typeface="Arial"/>
                <a:cs typeface="Arial"/>
              </a:rPr>
              <a:t>),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0">
                <a:latin typeface="Arial"/>
                <a:cs typeface="Arial"/>
              </a:rPr>
              <a:t>(1.79) </a:t>
            </a:r>
            <a:r>
              <a:rPr dirty="0" sz="1050" spc="-45">
                <a:latin typeface="Verdana"/>
                <a:cs typeface="Verdana"/>
              </a:rPr>
              <a:t>Rice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10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Growth</a:t>
            </a:r>
            <a:r>
              <a:rPr dirty="0" sz="1050" spc="-10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Trend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40">
                <a:latin typeface="Verdana"/>
                <a:cs typeface="Verdana"/>
              </a:rPr>
              <a:t>States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30">
                <a:latin typeface="Arial"/>
                <a:cs typeface="Arial"/>
              </a:rPr>
              <a:t>(</a:t>
            </a:r>
            <a:r>
              <a:rPr dirty="0" sz="1050" spc="-30">
                <a:latin typeface="Verdana"/>
                <a:cs typeface="Verdana"/>
              </a:rPr>
              <a:t>Punjab</a:t>
            </a:r>
            <a:r>
              <a:rPr dirty="0" sz="1050" spc="-30">
                <a:latin typeface="Arial"/>
                <a:cs typeface="Arial"/>
              </a:rPr>
              <a:t>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UP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West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Bengal</a:t>
            </a:r>
            <a:r>
              <a:rPr dirty="0" sz="1050" spc="-10">
                <a:latin typeface="Arial"/>
                <a:cs typeface="Arial"/>
              </a:rPr>
              <a:t>)</a:t>
            </a:r>
            <a:r>
              <a:rPr dirty="0" sz="1050" spc="500">
                <a:latin typeface="Arial"/>
                <a:cs typeface="Arial"/>
              </a:rPr>
              <a:t>  </a:t>
            </a:r>
            <a:r>
              <a:rPr dirty="0" sz="1050">
                <a:latin typeface="Verdana"/>
                <a:cs typeface="Verdana"/>
              </a:rPr>
              <a:t>Donut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chart</a:t>
            </a:r>
            <a:r>
              <a:rPr dirty="0" sz="1050" spc="-10">
                <a:latin typeface="Arial"/>
                <a:cs typeface="Arial"/>
              </a:rPr>
              <a:t>:</a:t>
            </a:r>
            <a:r>
              <a:rPr dirty="0" sz="1050" spc="-114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45">
                <a:latin typeface="Verdana"/>
                <a:cs typeface="Verdana"/>
              </a:rPr>
              <a:t>Rice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Producing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States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share</a:t>
            </a:r>
            <a:endParaRPr sz="1050">
              <a:latin typeface="Verdana"/>
              <a:cs typeface="Verdana"/>
            </a:endParaRPr>
          </a:p>
          <a:p>
            <a:pPr marL="278765">
              <a:lnSpc>
                <a:spcPct val="100000"/>
              </a:lnSpc>
              <a:spcBef>
                <a:spcPts val="840"/>
              </a:spcBef>
            </a:pPr>
            <a:r>
              <a:rPr dirty="0" sz="1050" spc="-35">
                <a:latin typeface="Verdana"/>
                <a:cs typeface="Verdana"/>
              </a:rPr>
              <a:t>Slicers</a:t>
            </a:r>
            <a:r>
              <a:rPr dirty="0" sz="1050" spc="-35">
                <a:latin typeface="Arial"/>
                <a:cs typeface="Arial"/>
              </a:rPr>
              <a:t>: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State</a:t>
            </a:r>
            <a:r>
              <a:rPr dirty="0" sz="1050" spc="-30">
                <a:latin typeface="Arial"/>
                <a:cs typeface="Arial"/>
              </a:rPr>
              <a:t>,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District</a:t>
            </a:r>
            <a:r>
              <a:rPr dirty="0" sz="1050" spc="-20">
                <a:latin typeface="Arial"/>
                <a:cs typeface="Arial"/>
              </a:rPr>
              <a:t>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40">
                <a:latin typeface="Verdana"/>
                <a:cs typeface="Verdana"/>
              </a:rPr>
              <a:t>Year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range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slider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(1966–2017)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Page</a:t>
            </a:r>
            <a:r>
              <a:rPr dirty="0" sz="1150" spc="135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2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120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Growth</a:t>
            </a:r>
            <a:r>
              <a:rPr dirty="0" sz="1150" spc="70" b="1">
                <a:latin typeface="Gill Sans MT"/>
                <a:cs typeface="Gill Sans MT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Analysis</a:t>
            </a:r>
            <a:endParaRPr sz="11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Gill Sans MT"/>
              <a:cs typeface="Gill Sans MT"/>
            </a:endParaRPr>
          </a:p>
          <a:p>
            <a:pPr marL="278765">
              <a:lnSpc>
                <a:spcPct val="100000"/>
              </a:lnSpc>
              <a:spcBef>
                <a:spcPts val="5"/>
              </a:spcBef>
            </a:pP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Districts</a:t>
            </a:r>
            <a:r>
              <a:rPr dirty="0" sz="1050" spc="-25">
                <a:latin typeface="Arial"/>
                <a:cs typeface="Arial"/>
              </a:rPr>
              <a:t>: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Increase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Vidisha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75">
                <a:latin typeface="Arial"/>
                <a:cs typeface="Arial"/>
              </a:rPr>
              <a:t>(+2,146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kg</a:t>
            </a:r>
            <a:r>
              <a:rPr dirty="0" sz="1050" spc="-10">
                <a:latin typeface="Arial"/>
                <a:cs typeface="Arial"/>
              </a:rPr>
              <a:t>/</a:t>
            </a:r>
            <a:r>
              <a:rPr dirty="0" sz="1050" spc="-10">
                <a:latin typeface="Verdana"/>
                <a:cs typeface="Verdana"/>
              </a:rPr>
              <a:t>ha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 marL="278765" marR="891540">
              <a:lnSpc>
                <a:spcPct val="166700"/>
              </a:lnSpc>
            </a:pP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15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States</a:t>
            </a:r>
            <a:r>
              <a:rPr dirty="0" sz="1050" spc="-30">
                <a:latin typeface="Arial"/>
                <a:cs typeface="Arial"/>
              </a:rPr>
              <a:t>: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Oilseed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Growth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(</a:t>
            </a:r>
            <a:r>
              <a:rPr dirty="0" sz="1050">
                <a:latin typeface="Verdana"/>
                <a:cs typeface="Verdana"/>
              </a:rPr>
              <a:t>AP</a:t>
            </a:r>
            <a:r>
              <a:rPr dirty="0" sz="1050">
                <a:latin typeface="Arial"/>
                <a:cs typeface="Arial"/>
              </a:rPr>
              <a:t>: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+0.45, </a:t>
            </a:r>
            <a:r>
              <a:rPr dirty="0" sz="1050" spc="-10">
                <a:latin typeface="Verdana"/>
                <a:cs typeface="Verdana"/>
              </a:rPr>
              <a:t>Haryana</a:t>
            </a:r>
            <a:r>
              <a:rPr dirty="0" sz="1050" spc="-10">
                <a:latin typeface="Arial"/>
                <a:cs typeface="Arial"/>
              </a:rPr>
              <a:t>: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+0.22)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80">
                <a:latin typeface="Arial"/>
                <a:cs typeface="Arial"/>
              </a:rPr>
              <a:t>7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Sun</a:t>
            </a:r>
            <a:r>
              <a:rPr dirty="0" sz="1050">
                <a:latin typeface="Arial"/>
                <a:cs typeface="Arial"/>
              </a:rPr>
              <a:t>fl</a:t>
            </a:r>
            <a:r>
              <a:rPr dirty="0" sz="1050">
                <a:latin typeface="Verdana"/>
                <a:cs typeface="Verdana"/>
              </a:rPr>
              <a:t>ower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Producing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States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Karnataka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leads</a:t>
            </a:r>
            <a:endParaRPr sz="1050">
              <a:latin typeface="Verdana"/>
              <a:cs typeface="Verdana"/>
            </a:endParaRPr>
          </a:p>
          <a:p>
            <a:pPr marL="278765">
              <a:lnSpc>
                <a:spcPct val="100000"/>
              </a:lnSpc>
              <a:spcBef>
                <a:spcPts val="840"/>
              </a:spcBef>
            </a:pPr>
            <a:r>
              <a:rPr dirty="0" sz="1050" spc="-40">
                <a:latin typeface="Verdana"/>
                <a:cs typeface="Verdana"/>
              </a:rPr>
              <a:t>Sugarcane </a:t>
            </a:r>
            <a:r>
              <a:rPr dirty="0" sz="1050" spc="-10">
                <a:latin typeface="Verdana"/>
                <a:cs typeface="Verdana"/>
              </a:rPr>
              <a:t>Trend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Cotton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Growth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</a:t>
            </a:r>
            <a:r>
              <a:rPr dirty="0" sz="1050" spc="-10">
                <a:latin typeface="Verdana"/>
                <a:cs typeface="Verdana"/>
              </a:rPr>
              <a:t>Top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2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states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Page</a:t>
            </a:r>
            <a:r>
              <a:rPr dirty="0" sz="1150" spc="110" b="1">
                <a:latin typeface="Gill Sans MT"/>
                <a:cs typeface="Gill Sans MT"/>
              </a:rPr>
              <a:t> </a:t>
            </a:r>
            <a:r>
              <a:rPr dirty="0" sz="1150" b="1">
                <a:latin typeface="Arial"/>
                <a:cs typeface="Arial"/>
              </a:rPr>
              <a:t>3</a:t>
            </a:r>
            <a:r>
              <a:rPr dirty="0" sz="1150" spc="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95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Yield</a:t>
            </a:r>
            <a:r>
              <a:rPr dirty="0" sz="1150" spc="80" b="1">
                <a:latin typeface="Gill Sans MT"/>
                <a:cs typeface="Gill Sans MT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Analysis</a:t>
            </a:r>
            <a:endParaRPr sz="1150">
              <a:latin typeface="Gill Sans MT"/>
              <a:cs typeface="Gill Sans MT"/>
            </a:endParaRPr>
          </a:p>
          <a:p>
            <a:pPr marL="278765" marR="1167765">
              <a:lnSpc>
                <a:spcPct val="166700"/>
              </a:lnSpc>
              <a:spcBef>
                <a:spcPts val="280"/>
              </a:spcBef>
            </a:pPr>
            <a:r>
              <a:rPr dirty="0" sz="1050">
                <a:latin typeface="Verdana"/>
                <a:cs typeface="Verdana"/>
              </a:rPr>
              <a:t>Annual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Average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Trend</a:t>
            </a:r>
            <a:r>
              <a:rPr dirty="0" sz="1050">
                <a:latin typeface="Arial"/>
                <a:cs typeface="Arial"/>
              </a:rPr>
              <a:t>: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1.0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(1966) </a:t>
            </a:r>
            <a:r>
              <a:rPr dirty="0" sz="950">
                <a:latin typeface="Arial"/>
                <a:cs typeface="Arial"/>
              </a:rPr>
              <a:t>→</a:t>
            </a:r>
            <a:r>
              <a:rPr dirty="0" sz="950" spc="-3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3.6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kg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>
                <a:latin typeface="Verdana"/>
                <a:cs typeface="Verdana"/>
              </a:rPr>
              <a:t>ha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(2017) </a:t>
            </a:r>
            <a:r>
              <a:rPr dirty="0" sz="1050">
                <a:latin typeface="Verdana"/>
                <a:cs typeface="Verdana"/>
              </a:rPr>
              <a:t>Crop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Comparison</a:t>
            </a:r>
            <a:r>
              <a:rPr dirty="0" sz="1050" spc="-25">
                <a:latin typeface="Arial"/>
                <a:cs typeface="Arial"/>
              </a:rPr>
              <a:t>: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45">
                <a:latin typeface="Verdana"/>
                <a:cs typeface="Verdana"/>
              </a:rPr>
              <a:t>Rice</a:t>
            </a:r>
            <a:r>
              <a:rPr dirty="0" sz="1050" spc="-55">
                <a:latin typeface="Verdana"/>
                <a:cs typeface="Verdana"/>
              </a:rPr>
              <a:t> vs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55">
                <a:latin typeface="Verdana"/>
                <a:cs typeface="Verdana"/>
              </a:rPr>
              <a:t>vs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(1966–2017)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Districts</a:t>
            </a:r>
            <a:r>
              <a:rPr dirty="0" sz="1050" spc="-55">
                <a:latin typeface="Verdana"/>
                <a:cs typeface="Verdana"/>
              </a:rPr>
              <a:t> by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Rice </a:t>
            </a:r>
            <a:r>
              <a:rPr dirty="0" sz="1050">
                <a:latin typeface="Verdana"/>
                <a:cs typeface="Verdana"/>
              </a:rPr>
              <a:t>Yield</a:t>
            </a:r>
            <a:r>
              <a:rPr dirty="0" sz="1050">
                <a:latin typeface="Arial"/>
                <a:cs typeface="Arial"/>
              </a:rPr>
              <a:t>: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Sangrur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Ludhiana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65">
                <a:latin typeface="Arial"/>
                <a:cs typeface="Arial"/>
              </a:rPr>
              <a:t>(4.1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kg</a:t>
            </a:r>
            <a:r>
              <a:rPr dirty="0" sz="1050" spc="-10">
                <a:latin typeface="Arial"/>
                <a:cs typeface="Arial"/>
              </a:rPr>
              <a:t>/</a:t>
            </a:r>
            <a:r>
              <a:rPr dirty="0" sz="1050" spc="-10">
                <a:latin typeface="Verdana"/>
                <a:cs typeface="Verdana"/>
              </a:rPr>
              <a:t>ha</a:t>
            </a:r>
            <a:r>
              <a:rPr dirty="0" sz="1050" spc="-10">
                <a:latin typeface="Arial"/>
                <a:cs typeface="Arial"/>
              </a:rPr>
              <a:t>)</a:t>
            </a:r>
            <a:endParaRPr sz="1050">
              <a:latin typeface="Arial"/>
              <a:cs typeface="Arial"/>
            </a:endParaRPr>
          </a:p>
          <a:p>
            <a:pPr marL="27876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consistently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higher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yield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than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>
                <a:latin typeface="Arial"/>
                <a:cs typeface="Arial"/>
              </a:rPr>
              <a:t>;</a:t>
            </a:r>
            <a:r>
              <a:rPr dirty="0" sz="1050" spc="-9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improving</a:t>
            </a:r>
            <a:r>
              <a:rPr dirty="0" sz="1050" spc="-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steadily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50" b="1">
                <a:latin typeface="Gill Sans MT"/>
                <a:cs typeface="Gill Sans MT"/>
              </a:rPr>
              <a:t>Page</a:t>
            </a:r>
            <a:r>
              <a:rPr dirty="0" sz="1150" spc="90" b="1">
                <a:latin typeface="Gill Sans MT"/>
                <a:cs typeface="Gill Sans MT"/>
              </a:rPr>
              <a:t> </a:t>
            </a:r>
            <a:r>
              <a:rPr dirty="0" sz="1150" spc="60" b="1">
                <a:latin typeface="Arial"/>
                <a:cs typeface="Arial"/>
              </a:rPr>
              <a:t>4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—</a:t>
            </a:r>
            <a:r>
              <a:rPr dirty="0" sz="1150" spc="80" b="1">
                <a:latin typeface="Arial"/>
                <a:cs typeface="Arial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Area</a:t>
            </a:r>
            <a:r>
              <a:rPr dirty="0" sz="1150" spc="75" b="1">
                <a:latin typeface="Gill Sans MT"/>
                <a:cs typeface="Gill Sans MT"/>
              </a:rPr>
              <a:t> </a:t>
            </a:r>
            <a:r>
              <a:rPr dirty="0" sz="1150" spc="70" b="1">
                <a:latin typeface="Arial"/>
                <a:cs typeface="Arial"/>
              </a:rPr>
              <a:t>&amp;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Correlation</a:t>
            </a:r>
            <a:endParaRPr sz="1150">
              <a:latin typeface="Gill Sans MT"/>
              <a:cs typeface="Gill Sans MT"/>
            </a:endParaRPr>
          </a:p>
          <a:p>
            <a:pPr marL="278765" marR="913765">
              <a:lnSpc>
                <a:spcPct val="166700"/>
              </a:lnSpc>
              <a:spcBef>
                <a:spcPts val="204"/>
              </a:spcBef>
            </a:pPr>
            <a:r>
              <a:rPr dirty="0" sz="1050" spc="-25">
                <a:latin typeface="Verdana"/>
                <a:cs typeface="Verdana"/>
              </a:rPr>
              <a:t>State</a:t>
            </a:r>
            <a:r>
              <a:rPr dirty="0" sz="1050" spc="-25">
                <a:latin typeface="Arial"/>
                <a:cs typeface="Arial"/>
              </a:rPr>
              <a:t>-</a:t>
            </a:r>
            <a:r>
              <a:rPr dirty="0" sz="1050" spc="-40">
                <a:latin typeface="Verdana"/>
                <a:cs typeface="Verdana"/>
              </a:rPr>
              <a:t>wise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Total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Area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Cultivated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Oilseeds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20">
                <a:latin typeface="Arial"/>
                <a:cs typeface="Arial"/>
              </a:rPr>
              <a:t>(</a:t>
            </a:r>
            <a:r>
              <a:rPr dirty="0" sz="1050" spc="-20">
                <a:latin typeface="Verdana"/>
                <a:cs typeface="Verdana"/>
              </a:rPr>
              <a:t>Bing</a:t>
            </a:r>
            <a:r>
              <a:rPr dirty="0" sz="1050" spc="-1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Map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visual</a:t>
            </a:r>
            <a:r>
              <a:rPr dirty="0" sz="1050" spc="-10">
                <a:latin typeface="Arial"/>
                <a:cs typeface="Arial"/>
              </a:rPr>
              <a:t>)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Oilseed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States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bar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chart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Madhya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Pradesh</a:t>
            </a:r>
            <a:r>
              <a:rPr dirty="0" sz="1050" spc="-114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Gujarat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lead</a:t>
            </a:r>
            <a:endParaRPr sz="1050">
              <a:latin typeface="Verdana"/>
              <a:cs typeface="Verdana"/>
            </a:endParaRPr>
          </a:p>
          <a:p>
            <a:pPr marL="278765" marR="5080">
              <a:lnSpc>
                <a:spcPct val="166700"/>
              </a:lnSpc>
            </a:pPr>
            <a:r>
              <a:rPr dirty="0" sz="1050" spc="-20">
                <a:latin typeface="Verdana"/>
                <a:cs typeface="Verdana"/>
              </a:rPr>
              <a:t>Top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Districts</a:t>
            </a:r>
            <a:r>
              <a:rPr dirty="0" sz="1050" spc="-25">
                <a:latin typeface="Arial"/>
                <a:cs typeface="Arial"/>
              </a:rPr>
              <a:t>: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Groundnut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70">
                <a:latin typeface="Arial"/>
                <a:cs typeface="Arial"/>
              </a:rPr>
              <a:t>2017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Junagadh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20">
                <a:latin typeface="Arial"/>
                <a:cs typeface="Arial"/>
              </a:rPr>
              <a:t>(29.8</a:t>
            </a:r>
            <a:r>
              <a:rPr dirty="0" sz="1050" spc="-20">
                <a:latin typeface="Verdana"/>
                <a:cs typeface="Verdana"/>
              </a:rPr>
              <a:t>K</a:t>
            </a:r>
            <a:r>
              <a:rPr dirty="0" sz="1050" spc="-20">
                <a:latin typeface="Arial"/>
                <a:cs typeface="Arial"/>
              </a:rPr>
              <a:t>),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Ananthapur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0">
                <a:latin typeface="Arial"/>
                <a:cs typeface="Arial"/>
              </a:rPr>
              <a:t>(19.1</a:t>
            </a:r>
            <a:r>
              <a:rPr dirty="0" sz="1050" spc="-20">
                <a:latin typeface="Verdana"/>
                <a:cs typeface="Verdana"/>
              </a:rPr>
              <a:t>K</a:t>
            </a:r>
            <a:r>
              <a:rPr dirty="0" sz="1050" spc="-20">
                <a:latin typeface="Arial"/>
                <a:cs typeface="Arial"/>
              </a:rPr>
              <a:t>) </a:t>
            </a:r>
            <a:r>
              <a:rPr dirty="0" sz="1050" spc="-35">
                <a:latin typeface="Verdana"/>
                <a:cs typeface="Verdana"/>
              </a:rPr>
              <a:t>Scatter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plots</a:t>
            </a:r>
            <a:r>
              <a:rPr dirty="0" sz="1050">
                <a:latin typeface="Arial"/>
                <a:cs typeface="Arial"/>
              </a:rPr>
              <a:t>: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Rice</a:t>
            </a:r>
            <a:r>
              <a:rPr dirty="0" sz="1050" spc="-25">
                <a:latin typeface="Arial"/>
                <a:cs typeface="Arial"/>
              </a:rPr>
              <a:t>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strong</a:t>
            </a:r>
            <a:r>
              <a:rPr dirty="0" sz="1050" spc="-30">
                <a:latin typeface="Verdana"/>
                <a:cs typeface="Verdana"/>
              </a:rPr>
              <a:t> positive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area</a:t>
            </a:r>
            <a:r>
              <a:rPr dirty="0" sz="1050" spc="-10">
                <a:latin typeface="Arial"/>
                <a:cs typeface="Arial"/>
              </a:rPr>
              <a:t>–</a:t>
            </a:r>
            <a:r>
              <a:rPr dirty="0" sz="1050" spc="-10">
                <a:latin typeface="Verdana"/>
                <a:cs typeface="Verdana"/>
              </a:rPr>
              <a:t>production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correlation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Verdana"/>
              <a:cs typeface="Verdana"/>
            </a:endParaRPr>
          </a:p>
          <a:p>
            <a:pPr marL="278765" marR="4122420" indent="-266700">
              <a:lnSpc>
                <a:spcPct val="173900"/>
              </a:lnSpc>
            </a:pPr>
            <a:r>
              <a:rPr dirty="0" sz="1150" b="1">
                <a:latin typeface="Gill Sans MT"/>
                <a:cs typeface="Gill Sans MT"/>
              </a:rPr>
              <a:t>Key</a:t>
            </a:r>
            <a:r>
              <a:rPr dirty="0" sz="1150" spc="13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Features</a:t>
            </a:r>
            <a:r>
              <a:rPr dirty="0" sz="1150" spc="200" b="1">
                <a:latin typeface="Gill Sans MT"/>
                <a:cs typeface="Gill Sans MT"/>
              </a:rPr>
              <a:t> </a:t>
            </a:r>
            <a:r>
              <a:rPr dirty="0" sz="1150" spc="-20" b="1">
                <a:latin typeface="Gill Sans MT"/>
                <a:cs typeface="Gill Sans MT"/>
              </a:rPr>
              <a:t>Used </a:t>
            </a:r>
            <a:r>
              <a:rPr dirty="0" sz="1050" spc="65">
                <a:latin typeface="Verdana"/>
                <a:cs typeface="Verdana"/>
              </a:rPr>
              <a:t>DAX</a:t>
            </a:r>
            <a:r>
              <a:rPr dirty="0" sz="1050" spc="-13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Measures Drillthrough</a:t>
            </a:r>
            <a:endParaRPr sz="1050">
              <a:latin typeface="Verdana"/>
              <a:cs typeface="Verdana"/>
            </a:endParaRPr>
          </a:p>
          <a:p>
            <a:pPr marL="278765" marR="4221480">
              <a:lnSpc>
                <a:spcPct val="166700"/>
              </a:lnSpc>
            </a:pPr>
            <a:r>
              <a:rPr dirty="0" sz="1050" spc="-10">
                <a:latin typeface="Verdana"/>
                <a:cs typeface="Verdana"/>
              </a:rPr>
              <a:t>Bookmarks </a:t>
            </a:r>
            <a:r>
              <a:rPr dirty="0" sz="1050" spc="-45">
                <a:latin typeface="Verdana"/>
                <a:cs typeface="Verdana"/>
              </a:rPr>
              <a:t>Dynamic</a:t>
            </a:r>
            <a:r>
              <a:rPr dirty="0" sz="1050" spc="-110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Slicers </a:t>
            </a:r>
            <a:r>
              <a:rPr dirty="0" sz="1050">
                <a:latin typeface="Verdana"/>
                <a:cs typeface="Verdana"/>
              </a:rPr>
              <a:t>Filled </a:t>
            </a:r>
            <a:r>
              <a:rPr dirty="0" sz="1050" spc="-25">
                <a:latin typeface="Verdana"/>
                <a:cs typeface="Verdana"/>
              </a:rPr>
              <a:t>Map</a:t>
            </a:r>
            <a:endParaRPr sz="1050">
              <a:latin typeface="Verdana"/>
              <a:cs typeface="Verdana"/>
            </a:endParaRPr>
          </a:p>
          <a:p>
            <a:pPr marL="27876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Verdana"/>
                <a:cs typeface="Verdana"/>
              </a:rPr>
              <a:t>KPI</a:t>
            </a:r>
            <a:r>
              <a:rPr dirty="0" sz="1050" spc="-1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Cards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81074" y="86296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81074" y="88963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54075" y="589006"/>
            <a:ext cx="5969635" cy="8413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135"/>
              </a:spcBef>
              <a:buFont typeface="Arial"/>
              <a:buAutoNum type="arabicPeriod" startAt="7"/>
              <a:tabLst>
                <a:tab pos="146050" algn="l"/>
              </a:tabLst>
            </a:pPr>
            <a:r>
              <a:rPr dirty="0" sz="1150" b="1">
                <a:latin typeface="Gill Sans MT"/>
                <a:cs typeface="Gill Sans MT"/>
              </a:rPr>
              <a:t>Key</a:t>
            </a:r>
            <a:r>
              <a:rPr dirty="0" sz="1150" spc="25" b="1">
                <a:latin typeface="Gill Sans MT"/>
                <a:cs typeface="Gill Sans MT"/>
              </a:rPr>
              <a:t> </a:t>
            </a:r>
            <a:r>
              <a:rPr dirty="0" sz="1150" spc="50" b="1">
                <a:latin typeface="Gill Sans MT"/>
                <a:cs typeface="Gill Sans MT"/>
              </a:rPr>
              <a:t>Findings</a:t>
            </a:r>
            <a:r>
              <a:rPr dirty="0" sz="1150" spc="70" b="1">
                <a:latin typeface="Gill Sans MT"/>
                <a:cs typeface="Gill Sans MT"/>
              </a:rPr>
              <a:t> </a:t>
            </a:r>
            <a:r>
              <a:rPr dirty="0" sz="1150" spc="70" b="1">
                <a:latin typeface="Arial"/>
                <a:cs typeface="Arial"/>
              </a:rPr>
              <a:t>&amp;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spc="55" b="1">
                <a:latin typeface="Gill Sans MT"/>
                <a:cs typeface="Gill Sans MT"/>
              </a:rPr>
              <a:t>Insights</a:t>
            </a:r>
            <a:endParaRPr sz="11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buFont typeface="Arial"/>
              <a:buAutoNum type="arabicPeriod" startAt="7"/>
            </a:pP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150" b="1">
                <a:latin typeface="Gill Sans MT"/>
                <a:cs typeface="Gill Sans MT"/>
              </a:rPr>
              <a:t>Rice</a:t>
            </a:r>
            <a:r>
              <a:rPr dirty="0" sz="1150" spc="210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Production</a:t>
            </a:r>
            <a:endParaRPr sz="1150">
              <a:latin typeface="Gill Sans MT"/>
              <a:cs typeface="Gill Sans MT"/>
            </a:endParaRPr>
          </a:p>
          <a:p>
            <a:pPr marL="12700" marR="124460">
              <a:lnSpc>
                <a:spcPct val="125000"/>
              </a:lnSpc>
              <a:spcBef>
                <a:spcPts val="730"/>
              </a:spcBef>
            </a:pPr>
            <a:r>
              <a:rPr dirty="0" sz="1050" spc="-20">
                <a:latin typeface="Verdana"/>
                <a:cs typeface="Verdana"/>
              </a:rPr>
              <a:t>West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Bengal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Uttar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Pradesh</a:t>
            </a:r>
            <a:r>
              <a:rPr dirty="0" sz="1050" spc="-10">
                <a:latin typeface="Arial"/>
                <a:cs typeface="Arial"/>
              </a:rPr>
              <a:t>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Punjab</a:t>
            </a:r>
            <a:r>
              <a:rPr dirty="0" sz="1050" spc="-13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are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the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top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rice</a:t>
            </a:r>
            <a:r>
              <a:rPr dirty="0" sz="1050" spc="-30">
                <a:latin typeface="Arial"/>
                <a:cs typeface="Arial"/>
              </a:rPr>
              <a:t>-</a:t>
            </a:r>
            <a:r>
              <a:rPr dirty="0" sz="1050" spc="-10">
                <a:latin typeface="Verdana"/>
                <a:cs typeface="Verdana"/>
              </a:rPr>
              <a:t>producing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states</a:t>
            </a:r>
            <a:r>
              <a:rPr dirty="0" sz="1050" spc="-10">
                <a:latin typeface="Arial"/>
                <a:cs typeface="Arial"/>
              </a:rPr>
              <a:t>.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20">
                <a:latin typeface="Verdana"/>
                <a:cs typeface="Verdana"/>
              </a:rPr>
              <a:t>West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Bengal</a:t>
            </a:r>
            <a:r>
              <a:rPr dirty="0" sz="1050" spc="-10">
                <a:latin typeface="Arial"/>
                <a:cs typeface="Arial"/>
              </a:rPr>
              <a:t>'</a:t>
            </a:r>
            <a:r>
              <a:rPr dirty="0" sz="1050" spc="-10">
                <a:latin typeface="Verdana"/>
                <a:cs typeface="Verdana"/>
              </a:rPr>
              <a:t>s </a:t>
            </a:r>
            <a:r>
              <a:rPr dirty="0" sz="1050" spc="-25">
                <a:latin typeface="Verdana"/>
                <a:cs typeface="Verdana"/>
              </a:rPr>
              <a:t>districts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35">
                <a:latin typeface="Arial"/>
                <a:cs typeface="Arial"/>
              </a:rPr>
              <a:t>(</a:t>
            </a:r>
            <a:r>
              <a:rPr dirty="0" sz="1050" spc="-35">
                <a:latin typeface="Verdana"/>
                <a:cs typeface="Verdana"/>
              </a:rPr>
              <a:t>Rice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Belt</a:t>
            </a:r>
            <a:r>
              <a:rPr dirty="0" sz="1050">
                <a:latin typeface="Arial"/>
                <a:cs typeface="Arial"/>
              </a:rPr>
              <a:t>)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show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consistently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high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output</a:t>
            </a:r>
            <a:r>
              <a:rPr dirty="0" sz="1050">
                <a:latin typeface="Arial"/>
                <a:cs typeface="Arial"/>
              </a:rPr>
              <a:t>.</a:t>
            </a:r>
            <a:r>
              <a:rPr dirty="0" sz="1050" spc="-95">
                <a:latin typeface="Arial"/>
                <a:cs typeface="Arial"/>
              </a:rPr>
              <a:t> </a:t>
            </a:r>
            <a:r>
              <a:rPr dirty="0" sz="1050" spc="-45">
                <a:latin typeface="Verdana"/>
                <a:cs typeface="Verdana"/>
              </a:rPr>
              <a:t>Rice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has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grown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b="1">
                <a:latin typeface="Arial"/>
                <a:cs typeface="Arial"/>
              </a:rPr>
              <a:t>3×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over</a:t>
            </a:r>
            <a:r>
              <a:rPr dirty="0" sz="1050" spc="-15" b="1">
                <a:latin typeface="Gill Sans MT"/>
                <a:cs typeface="Gill Sans MT"/>
              </a:rPr>
              <a:t> </a:t>
            </a:r>
            <a:r>
              <a:rPr dirty="0" sz="1050" spc="-25" b="1">
                <a:latin typeface="Arial"/>
                <a:cs typeface="Arial"/>
              </a:rPr>
              <a:t>51 </a:t>
            </a:r>
            <a:r>
              <a:rPr dirty="0" sz="1050" spc="-10" b="1">
                <a:latin typeface="Gill Sans MT"/>
                <a:cs typeface="Gill Sans MT"/>
              </a:rPr>
              <a:t>years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Groundnut</a:t>
            </a:r>
            <a:r>
              <a:rPr dirty="0" sz="1150" spc="30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Districts</a:t>
            </a:r>
            <a:r>
              <a:rPr dirty="0" sz="1150" spc="295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Arial"/>
                <a:cs typeface="Arial"/>
              </a:rPr>
              <a:t>(2017)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805"/>
              </a:spcBef>
            </a:pPr>
            <a:r>
              <a:rPr dirty="0" sz="1050" spc="-25">
                <a:latin typeface="Verdana"/>
                <a:cs typeface="Verdana"/>
              </a:rPr>
              <a:t>Junagadh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5">
                <a:latin typeface="Arial"/>
                <a:cs typeface="Arial"/>
              </a:rPr>
              <a:t>(29.8</a:t>
            </a:r>
            <a:r>
              <a:rPr dirty="0" sz="1050" spc="-25">
                <a:latin typeface="Verdana"/>
                <a:cs typeface="Verdana"/>
              </a:rPr>
              <a:t>K</a:t>
            </a:r>
            <a:r>
              <a:rPr dirty="0" sz="1050" spc="-1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tons</a:t>
            </a:r>
            <a:r>
              <a:rPr dirty="0" sz="1050" spc="-10">
                <a:latin typeface="Arial"/>
                <a:cs typeface="Arial"/>
              </a:rPr>
              <a:t>)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leads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groundnut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70">
                <a:latin typeface="Arial"/>
                <a:cs typeface="Arial"/>
              </a:rPr>
              <a:t>2017,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followed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55">
                <a:latin typeface="Verdana"/>
                <a:cs typeface="Verdana"/>
              </a:rPr>
              <a:t>by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Ananthapur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Arial"/>
                <a:cs typeface="Arial"/>
              </a:rPr>
              <a:t>(19.1</a:t>
            </a:r>
            <a:r>
              <a:rPr dirty="0" sz="1050" spc="-10">
                <a:latin typeface="Verdana"/>
                <a:cs typeface="Verdana"/>
              </a:rPr>
              <a:t>K</a:t>
            </a:r>
            <a:r>
              <a:rPr dirty="0" sz="1050" spc="-10">
                <a:latin typeface="Arial"/>
                <a:cs typeface="Arial"/>
              </a:rPr>
              <a:t>), </a:t>
            </a:r>
            <a:r>
              <a:rPr dirty="0" sz="1050" spc="-20">
                <a:latin typeface="Verdana"/>
                <a:cs typeface="Verdana"/>
              </a:rPr>
              <a:t>Rajkot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70">
                <a:latin typeface="Arial"/>
                <a:cs typeface="Arial"/>
              </a:rPr>
              <a:t>(17.4</a:t>
            </a:r>
            <a:r>
              <a:rPr dirty="0" sz="1050" spc="-70">
                <a:latin typeface="Verdana"/>
                <a:cs typeface="Verdana"/>
              </a:rPr>
              <a:t>K</a:t>
            </a:r>
            <a:r>
              <a:rPr dirty="0" sz="1050" spc="-70">
                <a:latin typeface="Arial"/>
                <a:cs typeface="Arial"/>
              </a:rPr>
              <a:t>),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50">
                <a:latin typeface="Verdana"/>
                <a:cs typeface="Verdana"/>
              </a:rPr>
              <a:t>Jamnagar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75">
                <a:latin typeface="Arial"/>
                <a:cs typeface="Arial"/>
              </a:rPr>
              <a:t>(17.4</a:t>
            </a:r>
            <a:r>
              <a:rPr dirty="0" sz="1050" spc="-75">
                <a:latin typeface="Verdana"/>
                <a:cs typeface="Verdana"/>
              </a:rPr>
              <a:t>K</a:t>
            </a:r>
            <a:r>
              <a:rPr dirty="0" sz="1050" spc="-75">
                <a:latin typeface="Arial"/>
                <a:cs typeface="Arial"/>
              </a:rPr>
              <a:t>)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all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from</a:t>
            </a:r>
            <a:r>
              <a:rPr dirty="0" sz="1050" spc="-160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Gujarat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Andhra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Pradesh</a:t>
            </a:r>
            <a:r>
              <a:rPr dirty="0" sz="1050" spc="-10">
                <a:latin typeface="Arial"/>
                <a:cs typeface="Arial"/>
              </a:rPr>
              <a:t>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indicating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strong regional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specialization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Oilseed</a:t>
            </a:r>
            <a:r>
              <a:rPr dirty="0" sz="1150" spc="23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Growth</a:t>
            </a:r>
            <a:r>
              <a:rPr dirty="0" sz="1150" spc="204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States</a:t>
            </a:r>
            <a:endParaRPr sz="1150">
              <a:latin typeface="Gill Sans MT"/>
              <a:cs typeface="Gill Sans MT"/>
            </a:endParaRPr>
          </a:p>
          <a:p>
            <a:pPr marL="12700" marR="64135">
              <a:lnSpc>
                <a:spcPct val="125000"/>
              </a:lnSpc>
              <a:spcBef>
                <a:spcPts val="805"/>
              </a:spcBef>
            </a:pPr>
            <a:r>
              <a:rPr dirty="0" sz="1050">
                <a:latin typeface="Verdana"/>
                <a:cs typeface="Verdana"/>
              </a:rPr>
              <a:t>Andhra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Pradesh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30">
                <a:latin typeface="Arial"/>
                <a:cs typeface="Arial"/>
              </a:rPr>
              <a:t>(+0.45)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Haryana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40">
                <a:latin typeface="Arial"/>
                <a:cs typeface="Arial"/>
              </a:rPr>
              <a:t>(+0.22)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show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the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highest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oilseed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production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growth</a:t>
            </a:r>
            <a:r>
              <a:rPr dirty="0" sz="1050" spc="-10">
                <a:latin typeface="Arial"/>
                <a:cs typeface="Arial"/>
              </a:rPr>
              <a:t>. </a:t>
            </a:r>
            <a:r>
              <a:rPr dirty="0" sz="1050" spc="-25">
                <a:latin typeface="Verdana"/>
                <a:cs typeface="Verdana"/>
              </a:rPr>
              <a:t>Assam</a:t>
            </a:r>
            <a:r>
              <a:rPr dirty="0" sz="1050" spc="-25">
                <a:latin typeface="Arial"/>
                <a:cs typeface="Arial"/>
              </a:rPr>
              <a:t>,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-30">
                <a:latin typeface="Verdana"/>
                <a:cs typeface="Verdana"/>
              </a:rPr>
              <a:t>Gujarat</a:t>
            </a:r>
            <a:r>
              <a:rPr dirty="0" sz="1050" spc="-30">
                <a:latin typeface="Arial"/>
                <a:cs typeface="Arial"/>
              </a:rPr>
              <a:t>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Chhattisgarh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show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negative</a:t>
            </a:r>
            <a:r>
              <a:rPr dirty="0" sz="1050" spc="35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growth</a:t>
            </a:r>
            <a:r>
              <a:rPr dirty="0" sz="1050" spc="-95" b="1">
                <a:latin typeface="Gill Sans MT"/>
                <a:cs typeface="Gill Sans MT"/>
              </a:rPr>
              <a:t> </a:t>
            </a:r>
            <a:r>
              <a:rPr dirty="0" sz="1050" spc="-75" b="1">
                <a:latin typeface="Arial"/>
                <a:cs typeface="Arial"/>
              </a:rPr>
              <a:t>(−1.0)</a:t>
            </a:r>
            <a:r>
              <a:rPr dirty="0" sz="1050" spc="-75">
                <a:latin typeface="Arial"/>
                <a:cs typeface="Arial"/>
              </a:rPr>
              <a:t>,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indicating</a:t>
            </a:r>
            <a:r>
              <a:rPr dirty="0" sz="1050" spc="-5">
                <a:latin typeface="Verdana"/>
                <a:cs typeface="Verdana"/>
              </a:rPr>
              <a:t> </a:t>
            </a:r>
            <a:r>
              <a:rPr dirty="0" sz="1050" spc="-85">
                <a:latin typeface="Verdana"/>
                <a:cs typeface="Verdana"/>
              </a:rPr>
              <a:t>a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sharp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cultivation decline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spc="50" b="1">
                <a:latin typeface="Gill Sans MT"/>
                <a:cs typeface="Gill Sans MT"/>
              </a:rPr>
              <a:t>Maize</a:t>
            </a:r>
            <a:r>
              <a:rPr dirty="0" sz="1150" spc="10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Yield</a:t>
            </a:r>
            <a:r>
              <a:rPr dirty="0" sz="1150" spc="75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Growth</a:t>
            </a:r>
            <a:endParaRPr sz="1150">
              <a:latin typeface="Gill Sans MT"/>
              <a:cs typeface="Gill Sans MT"/>
            </a:endParaRPr>
          </a:p>
          <a:p>
            <a:pPr marL="12700" marR="212725">
              <a:lnSpc>
                <a:spcPct val="125000"/>
              </a:lnSpc>
              <a:spcBef>
                <a:spcPts val="730"/>
              </a:spcBef>
            </a:pPr>
            <a:r>
              <a:rPr dirty="0" sz="1050">
                <a:latin typeface="Verdana"/>
                <a:cs typeface="Verdana"/>
              </a:rPr>
              <a:t>Annual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average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60">
                <a:latin typeface="Verdana"/>
                <a:cs typeface="Verdana"/>
              </a:rPr>
              <a:t>maize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yield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rose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steadily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from</a:t>
            </a:r>
            <a:r>
              <a:rPr dirty="0" sz="1050" spc="-160">
                <a:latin typeface="Verdana"/>
                <a:cs typeface="Verdana"/>
              </a:rPr>
              <a:t> </a:t>
            </a:r>
            <a:r>
              <a:rPr dirty="0" sz="1050" spc="-45" b="1">
                <a:latin typeface="Arial"/>
                <a:cs typeface="Arial"/>
              </a:rPr>
              <a:t>1.0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kg</a:t>
            </a:r>
            <a:r>
              <a:rPr dirty="0" sz="1050" b="1">
                <a:latin typeface="Arial"/>
                <a:cs typeface="Arial"/>
              </a:rPr>
              <a:t>/</a:t>
            </a:r>
            <a:r>
              <a:rPr dirty="0" sz="1050" b="1">
                <a:latin typeface="Gill Sans MT"/>
                <a:cs typeface="Gill Sans MT"/>
              </a:rPr>
              <a:t>ha</a:t>
            </a:r>
            <a:r>
              <a:rPr dirty="0" sz="1050" spc="5" b="1">
                <a:latin typeface="Gill Sans MT"/>
                <a:cs typeface="Gill Sans MT"/>
              </a:rPr>
              <a:t> </a:t>
            </a:r>
            <a:r>
              <a:rPr dirty="0" sz="1050" b="1">
                <a:latin typeface="Arial"/>
                <a:cs typeface="Arial"/>
              </a:rPr>
              <a:t>(1966)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to</a:t>
            </a:r>
            <a:r>
              <a:rPr dirty="0" sz="1050" spc="-20">
                <a:latin typeface="Verdana"/>
                <a:cs typeface="Verdana"/>
              </a:rPr>
              <a:t> </a:t>
            </a:r>
            <a:r>
              <a:rPr dirty="0" sz="1050" b="1">
                <a:latin typeface="Arial"/>
                <a:cs typeface="Arial"/>
              </a:rPr>
              <a:t>3.6</a:t>
            </a:r>
            <a:r>
              <a:rPr dirty="0" sz="1050" spc="30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kg</a:t>
            </a:r>
            <a:r>
              <a:rPr dirty="0" sz="1050" b="1">
                <a:latin typeface="Arial"/>
                <a:cs typeface="Arial"/>
              </a:rPr>
              <a:t>/</a:t>
            </a:r>
            <a:r>
              <a:rPr dirty="0" sz="1050" b="1">
                <a:latin typeface="Gill Sans MT"/>
                <a:cs typeface="Gill Sans MT"/>
              </a:rPr>
              <a:t>ha</a:t>
            </a:r>
            <a:r>
              <a:rPr dirty="0" sz="1050" spc="5" b="1">
                <a:latin typeface="Gill Sans MT"/>
                <a:cs typeface="Gill Sans MT"/>
              </a:rPr>
              <a:t> </a:t>
            </a:r>
            <a:r>
              <a:rPr dirty="0" sz="1050" spc="-10" b="1">
                <a:latin typeface="Arial"/>
                <a:cs typeface="Arial"/>
              </a:rPr>
              <a:t>(2017)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85">
                <a:latin typeface="Verdana"/>
                <a:cs typeface="Verdana"/>
              </a:rPr>
              <a:t>a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0">
                <a:latin typeface="Arial"/>
                <a:cs typeface="Arial"/>
              </a:rPr>
              <a:t>3.6× </a:t>
            </a:r>
            <a:r>
              <a:rPr dirty="0" sz="1050" spc="-40">
                <a:latin typeface="Verdana"/>
                <a:cs typeface="Verdana"/>
              </a:rPr>
              <a:t>improvement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driven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55">
                <a:latin typeface="Verdana"/>
                <a:cs typeface="Verdana"/>
              </a:rPr>
              <a:t>by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irrigation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upgrades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improved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seed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varieties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Wheat</a:t>
            </a:r>
            <a:r>
              <a:rPr dirty="0" sz="1150" spc="145" b="1">
                <a:latin typeface="Gill Sans MT"/>
                <a:cs typeface="Gill Sans MT"/>
              </a:rPr>
              <a:t> </a:t>
            </a:r>
            <a:r>
              <a:rPr dirty="0" sz="1150" b="1">
                <a:latin typeface="Gill Sans MT"/>
                <a:cs typeface="Gill Sans MT"/>
              </a:rPr>
              <a:t>Yield</a:t>
            </a:r>
            <a:r>
              <a:rPr dirty="0" sz="1150" spc="110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Districts</a:t>
            </a:r>
            <a:endParaRPr sz="1150">
              <a:latin typeface="Gill Sans MT"/>
              <a:cs typeface="Gill Sans MT"/>
            </a:endParaRPr>
          </a:p>
          <a:p>
            <a:pPr marL="12700" marR="229870">
              <a:lnSpc>
                <a:spcPct val="125000"/>
              </a:lnSpc>
              <a:spcBef>
                <a:spcPts val="805"/>
              </a:spcBef>
            </a:pPr>
            <a:r>
              <a:rPr dirty="0" sz="1050" spc="-25">
                <a:latin typeface="Verdana"/>
                <a:cs typeface="Verdana"/>
              </a:rPr>
              <a:t>Vidisha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(</a:t>
            </a:r>
            <a:r>
              <a:rPr dirty="0" sz="1050">
                <a:latin typeface="Verdana"/>
                <a:cs typeface="Verdana"/>
              </a:rPr>
              <a:t>MP</a:t>
            </a:r>
            <a:r>
              <a:rPr dirty="0" sz="1050">
                <a:latin typeface="Arial"/>
                <a:cs typeface="Arial"/>
              </a:rPr>
              <a:t>)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tops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wheat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yield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increase</a:t>
            </a:r>
            <a:r>
              <a:rPr dirty="0" sz="1050" spc="-3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at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 b="1">
                <a:latin typeface="Arial"/>
                <a:cs typeface="Arial"/>
              </a:rPr>
              <a:t>+2,146</a:t>
            </a:r>
            <a:r>
              <a:rPr dirty="0" sz="1050" spc="45" b="1">
                <a:latin typeface="Arial"/>
                <a:cs typeface="Arial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kg</a:t>
            </a:r>
            <a:r>
              <a:rPr dirty="0" sz="1050" b="1">
                <a:latin typeface="Arial"/>
                <a:cs typeface="Arial"/>
              </a:rPr>
              <a:t>/</a:t>
            </a:r>
            <a:r>
              <a:rPr dirty="0" sz="1050" b="1">
                <a:latin typeface="Gill Sans MT"/>
                <a:cs typeface="Gill Sans MT"/>
              </a:rPr>
              <a:t>ha</a:t>
            </a:r>
            <a:r>
              <a:rPr dirty="0" sz="1050" spc="20" b="1">
                <a:latin typeface="Gill Sans MT"/>
                <a:cs typeface="Gill Sans MT"/>
              </a:rPr>
              <a:t> </a:t>
            </a:r>
            <a:r>
              <a:rPr dirty="0" sz="1050" spc="-20">
                <a:latin typeface="Verdana"/>
                <a:cs typeface="Verdana"/>
              </a:rPr>
              <a:t>over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the</a:t>
            </a:r>
            <a:r>
              <a:rPr dirty="0" sz="1050" spc="-3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last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5</a:t>
            </a:r>
            <a:r>
              <a:rPr dirty="0" sz="1050" spc="3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years</a:t>
            </a:r>
            <a:r>
              <a:rPr dirty="0" sz="1050" spc="-25">
                <a:latin typeface="Arial"/>
                <a:cs typeface="Arial"/>
              </a:rPr>
              <a:t>,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>
                <a:latin typeface="Verdana"/>
                <a:cs typeface="Verdana"/>
              </a:rPr>
              <a:t>followed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by </a:t>
            </a:r>
            <a:r>
              <a:rPr dirty="0" sz="1050" spc="-35">
                <a:latin typeface="Verdana"/>
                <a:cs typeface="Verdana"/>
              </a:rPr>
              <a:t>Darjeeling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 spc="-25">
                <a:latin typeface="Arial"/>
                <a:cs typeface="Arial"/>
              </a:rPr>
              <a:t>(1,839)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50">
                <a:latin typeface="Verdana"/>
                <a:cs typeface="Verdana"/>
              </a:rPr>
              <a:t>Shajapur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5">
                <a:latin typeface="Arial"/>
                <a:cs typeface="Arial"/>
              </a:rPr>
              <a:t>(1,684)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—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35">
                <a:latin typeface="Verdana"/>
                <a:cs typeface="Verdana"/>
              </a:rPr>
              <a:t>indicating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improved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farming</a:t>
            </a:r>
            <a:r>
              <a:rPr dirty="0" sz="1050" spc="-2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practices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45">
                <a:latin typeface="Verdana"/>
                <a:cs typeface="Verdana"/>
              </a:rPr>
              <a:t>in</a:t>
            </a:r>
            <a:r>
              <a:rPr dirty="0" sz="1050" spc="-9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Madhya Pradesh</a:t>
            </a:r>
            <a:r>
              <a:rPr dirty="0" sz="1050" spc="-1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 b="1">
                <a:latin typeface="Gill Sans MT"/>
                <a:cs typeface="Gill Sans MT"/>
              </a:rPr>
              <a:t>Area</a:t>
            </a:r>
            <a:r>
              <a:rPr dirty="0" sz="1150" b="1">
                <a:latin typeface="Arial"/>
                <a:cs typeface="Arial"/>
              </a:rPr>
              <a:t>–</a:t>
            </a:r>
            <a:r>
              <a:rPr dirty="0" sz="1150" b="1">
                <a:latin typeface="Gill Sans MT"/>
                <a:cs typeface="Gill Sans MT"/>
              </a:rPr>
              <a:t>Production</a:t>
            </a:r>
            <a:r>
              <a:rPr dirty="0" sz="1150" spc="405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Correlation</a:t>
            </a:r>
            <a:endParaRPr sz="1150">
              <a:latin typeface="Gill Sans MT"/>
              <a:cs typeface="Gill Sans MT"/>
            </a:endParaRPr>
          </a:p>
          <a:p>
            <a:pPr algn="just" marL="12700" marR="341630">
              <a:lnSpc>
                <a:spcPct val="125000"/>
              </a:lnSpc>
              <a:spcBef>
                <a:spcPts val="730"/>
              </a:spcBef>
            </a:pPr>
            <a:r>
              <a:rPr dirty="0" sz="1050" spc="-25">
                <a:latin typeface="Verdana"/>
                <a:cs typeface="Verdana"/>
              </a:rPr>
              <a:t>Strong</a:t>
            </a:r>
            <a:r>
              <a:rPr dirty="0" sz="1050" spc="1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positive</a:t>
            </a:r>
            <a:r>
              <a:rPr dirty="0" sz="1050" spc="-1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correlation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con</a:t>
            </a:r>
            <a:r>
              <a:rPr dirty="0" sz="1050" spc="-10">
                <a:latin typeface="Arial"/>
                <a:cs typeface="Arial"/>
              </a:rPr>
              <a:t>fi</a:t>
            </a:r>
            <a:r>
              <a:rPr dirty="0" sz="1050" spc="-10">
                <a:latin typeface="Verdana"/>
                <a:cs typeface="Verdana"/>
              </a:rPr>
              <a:t>rmed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between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cultivated</a:t>
            </a:r>
            <a:r>
              <a:rPr dirty="0" sz="1050" spc="-40">
                <a:latin typeface="Verdana"/>
                <a:cs typeface="Verdana"/>
              </a:rPr>
              <a:t> </a:t>
            </a:r>
            <a:r>
              <a:rPr dirty="0" sz="1050" spc="-55">
                <a:latin typeface="Verdana"/>
                <a:cs typeface="Verdana"/>
              </a:rPr>
              <a:t>area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and </a:t>
            </a:r>
            <a:r>
              <a:rPr dirty="0" sz="1050" spc="-10">
                <a:latin typeface="Verdana"/>
                <a:cs typeface="Verdana"/>
              </a:rPr>
              <a:t>production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Rice</a:t>
            </a:r>
            <a:r>
              <a:rPr dirty="0" sz="1050" spc="-10">
                <a:latin typeface="Arial"/>
                <a:cs typeface="Arial"/>
              </a:rPr>
              <a:t>, </a:t>
            </a:r>
            <a:r>
              <a:rPr dirty="0" sz="1050">
                <a:latin typeface="Verdana"/>
                <a:cs typeface="Verdana"/>
              </a:rPr>
              <a:t>Wheat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 spc="-40">
                <a:latin typeface="Verdana"/>
                <a:cs typeface="Verdana"/>
              </a:rPr>
              <a:t>and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Maize</a:t>
            </a:r>
            <a:r>
              <a:rPr dirty="0" sz="1050">
                <a:latin typeface="Arial"/>
                <a:cs typeface="Arial"/>
              </a:rPr>
              <a:t>.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However</a:t>
            </a:r>
            <a:r>
              <a:rPr dirty="0" sz="1050" spc="-10">
                <a:latin typeface="Arial"/>
                <a:cs typeface="Arial"/>
              </a:rPr>
              <a:t>,</a:t>
            </a:r>
            <a:r>
              <a:rPr dirty="0" sz="1050" spc="20">
                <a:latin typeface="Arial"/>
                <a:cs typeface="Arial"/>
              </a:rPr>
              <a:t> </a:t>
            </a:r>
            <a:r>
              <a:rPr dirty="0" sz="1050" spc="-25">
                <a:latin typeface="Verdana"/>
                <a:cs typeface="Verdana"/>
              </a:rPr>
              <a:t>district</a:t>
            </a:r>
            <a:r>
              <a:rPr dirty="0" sz="1050" spc="-25">
                <a:latin typeface="Arial"/>
                <a:cs typeface="Arial"/>
              </a:rPr>
              <a:t>-</a:t>
            </a:r>
            <a:r>
              <a:rPr dirty="0" sz="1050">
                <a:latin typeface="Verdana"/>
                <a:cs typeface="Verdana"/>
              </a:rPr>
              <a:t>level</a:t>
            </a:r>
            <a:r>
              <a:rPr dirty="0" sz="1050" spc="-1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scatter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variations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indicate</a:t>
            </a:r>
            <a:r>
              <a:rPr dirty="0" sz="1050" spc="-10">
                <a:latin typeface="Verdana"/>
                <a:cs typeface="Verdana"/>
              </a:rPr>
              <a:t> di</a:t>
            </a:r>
            <a:r>
              <a:rPr dirty="0" sz="1050" spc="-10">
                <a:latin typeface="Arial"/>
                <a:cs typeface="Arial"/>
              </a:rPr>
              <a:t>ff</a:t>
            </a:r>
            <a:r>
              <a:rPr dirty="0" sz="1050" spc="-10">
                <a:latin typeface="Verdana"/>
                <a:cs typeface="Verdana"/>
              </a:rPr>
              <a:t>erences</a:t>
            </a:r>
            <a:r>
              <a:rPr dirty="0" sz="1050" spc="-25">
                <a:latin typeface="Verdana"/>
                <a:cs typeface="Verdana"/>
              </a:rPr>
              <a:t> </a:t>
            </a:r>
            <a:r>
              <a:rPr dirty="0" sz="1050" spc="-120">
                <a:latin typeface="Verdana"/>
                <a:cs typeface="Verdana"/>
              </a:rPr>
              <a:t>in</a:t>
            </a:r>
            <a:r>
              <a:rPr dirty="0" sz="1050" spc="30">
                <a:latin typeface="Verdana"/>
                <a:cs typeface="Verdana"/>
              </a:rPr>
              <a:t> </a:t>
            </a:r>
            <a:r>
              <a:rPr dirty="0" sz="1050" spc="-10" b="1">
                <a:latin typeface="Gill Sans MT"/>
                <a:cs typeface="Gill Sans MT"/>
              </a:rPr>
              <a:t>yield </a:t>
            </a:r>
            <a:r>
              <a:rPr dirty="0" sz="1050" spc="75" b="1">
                <a:latin typeface="Gill Sans MT"/>
                <a:cs typeface="Gill Sans MT"/>
              </a:rPr>
              <a:t>e</a:t>
            </a:r>
            <a:r>
              <a:rPr dirty="0" sz="1050" spc="75" b="1">
                <a:latin typeface="Arial"/>
                <a:cs typeface="Arial"/>
              </a:rPr>
              <a:t>fi</a:t>
            </a:r>
            <a:r>
              <a:rPr dirty="0" sz="1050" spc="75" b="1">
                <a:latin typeface="Gill Sans MT"/>
                <a:cs typeface="Gill Sans MT"/>
              </a:rPr>
              <a:t>ciency</a:t>
            </a:r>
            <a:r>
              <a:rPr dirty="0" sz="1050" spc="20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and</a:t>
            </a:r>
            <a:r>
              <a:rPr dirty="0" sz="1050" spc="55" b="1">
                <a:latin typeface="Gill Sans MT"/>
                <a:cs typeface="Gill Sans MT"/>
              </a:rPr>
              <a:t> </a:t>
            </a:r>
            <a:r>
              <a:rPr dirty="0" sz="1050" b="1">
                <a:latin typeface="Gill Sans MT"/>
                <a:cs typeface="Gill Sans MT"/>
              </a:rPr>
              <a:t>irrigation</a:t>
            </a:r>
            <a:r>
              <a:rPr dirty="0" sz="1050" spc="-75" b="1">
                <a:latin typeface="Gill Sans MT"/>
                <a:cs typeface="Gill Sans MT"/>
              </a:rPr>
              <a:t> </a:t>
            </a:r>
            <a:r>
              <a:rPr dirty="0" sz="1050" spc="35" b="1">
                <a:latin typeface="Gill Sans MT"/>
                <a:cs typeface="Gill Sans MT"/>
              </a:rPr>
              <a:t>access</a:t>
            </a:r>
            <a:r>
              <a:rPr dirty="0" sz="1050" spc="35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2700" marR="4354830">
              <a:lnSpc>
                <a:spcPct val="266300"/>
              </a:lnSpc>
              <a:spcBef>
                <a:spcPts val="770"/>
              </a:spcBef>
              <a:buFont typeface="Arial"/>
              <a:buAutoNum type="arabicPeriod" startAt="8"/>
              <a:tabLst>
                <a:tab pos="184150" algn="l"/>
              </a:tabLst>
            </a:pPr>
            <a:r>
              <a:rPr dirty="0" sz="1150" spc="45" b="1">
                <a:latin typeface="Gill Sans MT"/>
                <a:cs typeface="Gill Sans MT"/>
              </a:rPr>
              <a:t>Business </a:t>
            </a:r>
            <a:r>
              <a:rPr dirty="0" sz="1150" b="1">
                <a:latin typeface="Gill Sans MT"/>
                <a:cs typeface="Gill Sans MT"/>
              </a:rPr>
              <a:t>Use</a:t>
            </a:r>
            <a:r>
              <a:rPr dirty="0" sz="1150" spc="55" b="1">
                <a:latin typeface="Gill Sans MT"/>
                <a:cs typeface="Gill Sans MT"/>
              </a:rPr>
              <a:t> </a:t>
            </a:r>
            <a:r>
              <a:rPr dirty="0" sz="1150" spc="30" b="1">
                <a:latin typeface="Gill Sans MT"/>
                <a:cs typeface="Gill Sans MT"/>
              </a:rPr>
              <a:t>Cases </a:t>
            </a:r>
            <a:r>
              <a:rPr dirty="0" sz="1150" spc="-10" b="1">
                <a:latin typeface="Gill Sans MT"/>
                <a:cs typeface="Gill Sans MT"/>
              </a:rPr>
              <a:t>Farmers</a:t>
            </a:r>
            <a:endParaRPr sz="1150">
              <a:latin typeface="Gill Sans MT"/>
              <a:cs typeface="Gill Sans MT"/>
            </a:endParaRPr>
          </a:p>
          <a:p>
            <a:pPr marL="278765" marR="1171575">
              <a:lnSpc>
                <a:spcPct val="166700"/>
              </a:lnSpc>
              <a:spcBef>
                <a:spcPts val="280"/>
              </a:spcBef>
            </a:pPr>
            <a:r>
              <a:rPr dirty="0" sz="1050">
                <a:latin typeface="Verdana"/>
                <a:cs typeface="Verdana"/>
              </a:rPr>
              <a:t>Explore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historical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crop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data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to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choose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the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best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crop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per</a:t>
            </a:r>
            <a:r>
              <a:rPr dirty="0" sz="1050" spc="-10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season </a:t>
            </a:r>
            <a:r>
              <a:rPr dirty="0" sz="1050" spc="-20">
                <a:latin typeface="Verdana"/>
                <a:cs typeface="Verdana"/>
              </a:rPr>
              <a:t>Identify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regional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productivity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gaps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soil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irrigation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improvement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676524" y="2838448"/>
          <a:ext cx="2419350" cy="2518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1575"/>
                <a:gridCol w="1238250"/>
              </a:tblGrid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Lucida Sans"/>
                          <a:cs typeface="Lucida Sans"/>
                        </a:rPr>
                        <a:t>Metric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Lucida Sans"/>
                          <a:cs typeface="Lucida Sans"/>
                        </a:rPr>
                        <a:t>Value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75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35">
                          <a:latin typeface="Arial"/>
                          <a:cs typeface="Arial"/>
                        </a:rPr>
                        <a:t>Records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Arial"/>
                          <a:cs typeface="Arial"/>
                        </a:rPr>
                        <a:t>16,146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50">
                          <a:latin typeface="Arial"/>
                          <a:cs typeface="Arial"/>
                        </a:rPr>
                        <a:t>Crop</a:t>
                      </a:r>
                      <a:r>
                        <a:rPr dirty="0" sz="7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40">
                          <a:latin typeface="Arial"/>
                          <a:cs typeface="Arial"/>
                        </a:rPr>
                        <a:t>Types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55">
                          <a:latin typeface="Arial"/>
                          <a:cs typeface="Arial"/>
                        </a:rPr>
                        <a:t>20+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SQL </a:t>
                      </a:r>
                      <a:r>
                        <a:rPr dirty="0" sz="750" spc="35">
                          <a:latin typeface="Arial"/>
                          <a:cs typeface="Arial"/>
                        </a:rPr>
                        <a:t>Queries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Arial"/>
                          <a:cs typeface="Arial"/>
                        </a:rPr>
                        <a:t>10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50"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7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BI</a:t>
                      </a:r>
                      <a:r>
                        <a:rPr dirty="0" sz="75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Pages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4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EDA</a:t>
                      </a:r>
                      <a:r>
                        <a:rPr dirty="0" sz="75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40">
                          <a:latin typeface="Arial"/>
                          <a:cs typeface="Arial"/>
                        </a:rPr>
                        <a:t>Visualizations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Arial"/>
                          <a:cs typeface="Arial"/>
                        </a:rPr>
                        <a:t>15+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6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7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35">
                          <a:latin typeface="Arial"/>
                          <a:cs typeface="Arial"/>
                        </a:rPr>
                        <a:t>Span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51</a:t>
                      </a:r>
                      <a:r>
                        <a:rPr dirty="0" sz="7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years</a:t>
                      </a:r>
                      <a:r>
                        <a:rPr dirty="0" sz="75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latin typeface="Arial"/>
                          <a:cs typeface="Arial"/>
                        </a:rPr>
                        <a:t>(1966–2017)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50">
                          <a:latin typeface="Arial"/>
                          <a:cs typeface="Arial"/>
                        </a:rPr>
                        <a:t>Districts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Arial"/>
                          <a:cs typeface="Arial"/>
                        </a:rPr>
                        <a:t>313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60">
                          <a:latin typeface="Arial"/>
                          <a:cs typeface="Arial"/>
                        </a:rPr>
                        <a:t>Columns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750" spc="90">
                          <a:latin typeface="Arial"/>
                          <a:cs typeface="Arial"/>
                        </a:rPr>
                        <a:t>80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981074" y="7905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81074" y="10572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81074" y="17811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81074" y="20478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54075" y="388981"/>
            <a:ext cx="4755515" cy="2330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5" b="1">
                <a:latin typeface="Gill Sans MT"/>
                <a:cs typeface="Gill Sans MT"/>
              </a:rPr>
              <a:t>Policymakers</a:t>
            </a:r>
            <a:endParaRPr sz="1150">
              <a:latin typeface="Gill Sans MT"/>
              <a:cs typeface="Gill Sans MT"/>
            </a:endParaRPr>
          </a:p>
          <a:p>
            <a:pPr marL="278765" marR="501015">
              <a:lnSpc>
                <a:spcPct val="166700"/>
              </a:lnSpc>
              <a:spcBef>
                <a:spcPts val="280"/>
              </a:spcBef>
            </a:pPr>
            <a:r>
              <a:rPr dirty="0" sz="1050" spc="-20">
                <a:latin typeface="Verdana"/>
                <a:cs typeface="Verdana"/>
              </a:rPr>
              <a:t>Identify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low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10">
                <a:latin typeface="Verdana"/>
                <a:cs typeface="Verdana"/>
              </a:rPr>
              <a:t>productivity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regions</a:t>
            </a:r>
            <a:r>
              <a:rPr dirty="0" sz="1050" spc="-2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subsidy</a:t>
            </a:r>
            <a:r>
              <a:rPr dirty="0" sz="1050" spc="-6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allocation</a:t>
            </a:r>
            <a:r>
              <a:rPr dirty="0" sz="1050" spc="50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Design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crop</a:t>
            </a:r>
            <a:r>
              <a:rPr dirty="0" sz="1050" spc="-45">
                <a:latin typeface="Verdana"/>
                <a:cs typeface="Verdana"/>
              </a:rPr>
              <a:t> </a:t>
            </a:r>
            <a:r>
              <a:rPr dirty="0" sz="1050" spc="-35">
                <a:latin typeface="Verdana"/>
                <a:cs typeface="Verdana"/>
              </a:rPr>
              <a:t>insurance</a:t>
            </a:r>
            <a:r>
              <a:rPr dirty="0" sz="1050" spc="-25">
                <a:latin typeface="Verdana"/>
                <a:cs typeface="Verdana"/>
              </a:rPr>
              <a:t> policies</a:t>
            </a:r>
            <a:r>
              <a:rPr dirty="0" sz="1050" spc="-3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based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on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yield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>
                <a:latin typeface="Arial"/>
                <a:cs typeface="Arial"/>
              </a:rPr>
              <a:t>fl</a:t>
            </a:r>
            <a:r>
              <a:rPr dirty="0" sz="1050">
                <a:latin typeface="Verdana"/>
                <a:cs typeface="Verdana"/>
              </a:rPr>
              <a:t>uctuation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data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50" spc="45" b="1">
                <a:latin typeface="Gill Sans MT"/>
                <a:cs typeface="Gill Sans MT"/>
              </a:rPr>
              <a:t>Researchers</a:t>
            </a:r>
            <a:endParaRPr sz="1150">
              <a:latin typeface="Gill Sans MT"/>
              <a:cs typeface="Gill Sans MT"/>
            </a:endParaRPr>
          </a:p>
          <a:p>
            <a:pPr marL="278765">
              <a:lnSpc>
                <a:spcPct val="100000"/>
              </a:lnSpc>
              <a:spcBef>
                <a:spcPts val="1045"/>
              </a:spcBef>
            </a:pPr>
            <a:r>
              <a:rPr dirty="0" sz="1050">
                <a:latin typeface="Verdana"/>
                <a:cs typeface="Verdana"/>
              </a:rPr>
              <a:t>Analyze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climate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7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irrigation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impact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>
                <a:latin typeface="Verdana"/>
                <a:cs typeface="Verdana"/>
              </a:rPr>
              <a:t>on</a:t>
            </a:r>
            <a:r>
              <a:rPr dirty="0" sz="1050" spc="-9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yields</a:t>
            </a:r>
            <a:r>
              <a:rPr dirty="0" sz="1050" spc="-6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over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60">
                <a:latin typeface="Arial"/>
                <a:cs typeface="Arial"/>
              </a:rPr>
              <a:t>51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Verdana"/>
                <a:cs typeface="Verdana"/>
              </a:rPr>
              <a:t>years</a:t>
            </a:r>
            <a:endParaRPr sz="1050">
              <a:latin typeface="Verdana"/>
              <a:cs typeface="Verdana"/>
            </a:endParaRPr>
          </a:p>
          <a:p>
            <a:pPr marL="278765">
              <a:lnSpc>
                <a:spcPct val="100000"/>
              </a:lnSpc>
              <a:spcBef>
                <a:spcPts val="840"/>
              </a:spcBef>
            </a:pPr>
            <a:r>
              <a:rPr dirty="0" sz="1050" spc="-20">
                <a:latin typeface="Verdana"/>
                <a:cs typeface="Verdana"/>
              </a:rPr>
              <a:t>Identify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40">
                <a:latin typeface="Verdana"/>
                <a:cs typeface="Verdana"/>
              </a:rPr>
              <a:t>areas </a:t>
            </a:r>
            <a:r>
              <a:rPr dirty="0" sz="1050">
                <a:latin typeface="Verdana"/>
                <a:cs typeface="Verdana"/>
              </a:rPr>
              <a:t>for</a:t>
            </a:r>
            <a:r>
              <a:rPr dirty="0" sz="1050" spc="-7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high</a:t>
            </a:r>
            <a:r>
              <a:rPr dirty="0" sz="1050" spc="-10">
                <a:latin typeface="Arial"/>
                <a:cs typeface="Arial"/>
              </a:rPr>
              <a:t>-</a:t>
            </a:r>
            <a:r>
              <a:rPr dirty="0" sz="1050" spc="-20">
                <a:latin typeface="Verdana"/>
                <a:cs typeface="Verdana"/>
              </a:rPr>
              <a:t>yield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30">
                <a:latin typeface="Verdana"/>
                <a:cs typeface="Verdana"/>
              </a:rPr>
              <a:t>variety</a:t>
            </a:r>
            <a:r>
              <a:rPr dirty="0" sz="1050" spc="-80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innovation</a:t>
            </a:r>
            <a:r>
              <a:rPr dirty="0" sz="1050" spc="-85">
                <a:latin typeface="Verdana"/>
                <a:cs typeface="Verdana"/>
              </a:rPr>
              <a:t> </a:t>
            </a:r>
            <a:r>
              <a:rPr dirty="0" sz="1050" spc="-25">
                <a:latin typeface="Verdana"/>
                <a:cs typeface="Verdana"/>
              </a:rPr>
              <a:t>and</a:t>
            </a:r>
            <a:r>
              <a:rPr dirty="0" sz="1050" spc="-55">
                <a:latin typeface="Verdana"/>
                <a:cs typeface="Verdana"/>
              </a:rPr>
              <a:t> </a:t>
            </a:r>
            <a:r>
              <a:rPr dirty="0" sz="1050" spc="-20">
                <a:latin typeface="Verdana"/>
                <a:cs typeface="Verdana"/>
              </a:rPr>
              <a:t>pest</a:t>
            </a:r>
            <a:r>
              <a:rPr dirty="0" sz="1050" spc="-50">
                <a:latin typeface="Verdana"/>
                <a:cs typeface="Verdana"/>
              </a:rPr>
              <a:t> </a:t>
            </a:r>
            <a:r>
              <a:rPr dirty="0" sz="1050" spc="-10">
                <a:latin typeface="Verdana"/>
                <a:cs typeface="Verdana"/>
              </a:rPr>
              <a:t>management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50" b="1">
                <a:latin typeface="Gill Sans MT"/>
                <a:cs typeface="Gill Sans MT"/>
              </a:rPr>
              <a:t>Project</a:t>
            </a:r>
            <a:r>
              <a:rPr dirty="0" sz="1150" spc="280" b="1">
                <a:latin typeface="Gill Sans MT"/>
                <a:cs typeface="Gill Sans MT"/>
              </a:rPr>
              <a:t> </a:t>
            </a:r>
            <a:r>
              <a:rPr dirty="0" sz="1150" spc="-10" b="1">
                <a:latin typeface="Gill Sans MT"/>
                <a:cs typeface="Gill Sans MT"/>
              </a:rPr>
              <a:t>Summary</a:t>
            </a:r>
            <a:endParaRPr sz="11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2026-05-12T11:12:29Z</dcterms:created>
  <dcterms:modified xsi:type="dcterms:W3CDTF">2026-05-12T11:12:29Z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2026-05-12T00:00:00Z</vt:filetime>
  </property>
  <property fmtid="{D5CDD505-2E9C-101B-9397-08002B2CF9AE}" pid="3" name="Creator">
    <vt:lpwstr>Chromium</vt:lpwstr>
  </property>
  <property fmtid="{D5CDD505-2E9C-101B-9397-08002B2CF9AE}" pid="4" name="LastSaved">
    <vt:filetime>2026-05-12T00:00:00Z</vt:filetime>
  </property>
  <property fmtid="{D5CDD505-2E9C-101B-9397-08002B2CF9AE}" pid="5" name="Producer">
    <vt:lpwstr>Skia/PDF m127</vt:lpwstr>
  </property>
</Properties>
</file>